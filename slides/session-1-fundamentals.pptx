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ECF4"/>
                </a:solidFill>
                <a:latin typeface="Arial"/>
              </a:defRPr>
            </a:pPr>
            <a:r>
              <a:t>Building AI Agents with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57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CA3B4"/>
                </a:solidFill>
                <a:latin typeface="Arial"/>
              </a:defRPr>
            </a:pPr>
            <a:r>
              <a:t>Session 1: Fundamentals + Your First Agent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4457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8853D"/>
                </a:solidFill>
                <a:latin typeface="Arial"/>
              </a:defRPr>
            </a:pPr>
            <a:r>
              <a:t>Tucson Claude Code Meetup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What We're Building: MeetupBot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2286000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13583" cy="43891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ECF4"/>
                </a:solidFill>
                <a:latin typeface="Arial"/>
              </a:defRPr>
            </a:pPr>
            <a:r>
              <a:t>Plans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B4"/>
                </a:solidFill>
                <a:latin typeface="Arial"/>
              </a:defRPr>
            </a:pPr>
            <a:r>
              <a:t>Generates structured event details from a topic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645920"/>
            <a:ext cx="2613583" cy="43891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5103" y="1645920"/>
            <a:ext cx="2613583" cy="9144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7983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ECF4"/>
                </a:solidFill>
                <a:latin typeface="Arial"/>
              </a:defRPr>
            </a:pPr>
            <a:r>
              <a:t>Schedules Talks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B4"/>
                </a:solidFill>
                <a:latin typeface="Arial"/>
              </a:defRPr>
            </a:pPr>
            <a:r>
              <a:t>Manages speaker slots and timing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45920"/>
            <a:ext cx="2613583" cy="43891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645920"/>
            <a:ext cx="2613583" cy="9144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5887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5887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ECF4"/>
                </a:solidFill>
                <a:latin typeface="Arial"/>
              </a:defRPr>
            </a:pPr>
            <a:r>
              <a:t>Drafts Comms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5887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B4"/>
                </a:solidFill>
                <a:latin typeface="Arial"/>
              </a:defRPr>
            </a:pPr>
            <a:r>
              <a:t>Writes emails, social posts, announcements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645920"/>
            <a:ext cx="2613583" cy="438912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0911" y="164592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3791" y="19202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8853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3791" y="2560320"/>
            <a:ext cx="22478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8ECF4"/>
                </a:solidFill>
                <a:latin typeface="Arial"/>
              </a:defRPr>
            </a:pPr>
            <a:r>
              <a:t>Learns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791" y="3749039"/>
            <a:ext cx="2247823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B4"/>
                </a:solidFill>
                <a:latin typeface="Arial"/>
              </a:defRPr>
            </a:pPr>
            <a:r>
              <a:t>Improves over time with attendee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Today's Goal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137160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Courier New"/>
              </a:defRPr>
            </a:pPr>
            <a:r>
              <a:t>/plan-event "Building RAG pipelines"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B9CF5"/>
                </a:solidFill>
                <a:latin typeface="Arial"/>
              </a:defRPr>
            </a:pPr>
            <a:r>
              <a:t>Output: Structured JSON event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1274552" cy="274320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6984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8ECF4"/>
                </a:solidFill>
                <a:latin typeface="Courier New"/>
              </a:defRPr>
            </a:pPr>
            <a:r>
              <a:t>{</a:t>
            </a:r>
            <a:br/>
            <a:r>
              <a:t>  "eventName": "Building RAG Pipelines",</a:t>
            </a:r>
            <a:br/>
            <a:r>
              <a:t>  "date": "2026-04-15T18:30:00",</a:t>
            </a:r>
            <a:br/>
            <a:r>
              <a:t>  "targetAudience": "Intermediate developers",</a:t>
            </a:r>
            <a:br/>
            <a:r>
              <a:t>  "suggestedSpeakers": [...],</a:t>
            </a:r>
            <a:br/>
            <a:r>
              <a:t>  "schedule": [...]</a:t>
            </a:r>
            <a:br/>
            <a: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What is Claude Code?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B9CF5"/>
                </a:solidFill>
                <a:latin typeface="Arial"/>
              </a:defRPr>
            </a:pPr>
            <a:r>
              <a:t>Where It Lives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CLI — terminal-native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218688"/>
            <a:ext cx="91440" cy="9144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Desktop — Mac + Windows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041648"/>
            <a:ext cx="91440" cy="9144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Web — claude.ai/code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4864608"/>
            <a:ext cx="91440" cy="9144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VS Code — extension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5687568"/>
            <a:ext cx="91440" cy="91440"/>
          </a:xfrm>
          <a:prstGeom prst="ellipse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577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JetBrains — plugin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C495"/>
                </a:solidFill>
                <a:latin typeface="Arial"/>
              </a:defRPr>
            </a:pPr>
            <a:r>
              <a:t>What It Does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2286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Reads your entire project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321868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Edits files with precision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404164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3931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Runs commands and tests</a:t>
            </a:r>
          </a:p>
        </p:txBody>
      </p:sp>
      <p:sp>
        <p:nvSpPr>
          <p:cNvPr id="26" name="Oval 25"/>
          <p:cNvSpPr/>
          <p:nvPr/>
        </p:nvSpPr>
        <p:spPr>
          <a:xfrm>
            <a:off x="6336792" y="486460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Searches code and patterns</a:t>
            </a:r>
          </a:p>
        </p:txBody>
      </p:sp>
      <p:sp>
        <p:nvSpPr>
          <p:cNvPr id="28" name="Oval 27"/>
          <p:cNvSpPr/>
          <p:nvPr/>
        </p:nvSpPr>
        <p:spPr>
          <a:xfrm>
            <a:off x="6336792" y="568756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5577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Follows CLAUDE.md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Installation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Terminal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365760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Courier New"/>
              </a:defRPr>
            </a:pPr>
            <a:r>
              <a:t># Install Claude Code globally</a:t>
            </a:r>
            <a:br/>
            <a:r>
              <a:t>npm install -g @anthropic-ai/claude-code</a:t>
            </a:r>
            <a:br/>
            <a:br/>
            <a:r>
              <a:t># Create your project</a:t>
            </a:r>
            <a:br/>
            <a:r>
              <a:t>mkdir meetup-agent</a:t>
            </a:r>
            <a:br/>
            <a:r>
              <a:t>cd meetup-agent</a:t>
            </a:r>
            <a:br/>
            <a:r>
              <a:t>git init</a:t>
            </a:r>
            <a:br/>
            <a:br/>
            <a:r>
              <a:t># Launch Claude Code</a:t>
            </a:r>
            <a:br/>
            <a:r>
              <a:t>claude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CA3B4"/>
                </a:solidFill>
                <a:latin typeface="Arial"/>
              </a:defRPr>
            </a:pPr>
            <a:r>
              <a:t>Requirements: Node.js 18+, Git, API key (or ngrok AI Gateway)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8853D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Git Basics — Just Enough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Bash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Courier New"/>
              </a:defRPr>
            </a:pPr>
            <a:r>
              <a:t># Initialize a new repo</a:t>
            </a:r>
            <a:br/>
            <a:r>
              <a:t>git init</a:t>
            </a:r>
            <a:br/>
            <a:br/>
            <a:r>
              <a:t># Stage all changes</a:t>
            </a:r>
            <a:br/>
            <a:r>
              <a:t>git add -A</a:t>
            </a:r>
            <a:br/>
            <a:br/>
            <a:r>
              <a:t># Save a checkpoint</a:t>
            </a:r>
            <a:br/>
            <a:r>
              <a:t>git commit -m "Add initial project structure"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CA3B4"/>
                </a:solidFill>
                <a:latin typeface="Arial"/>
              </a:defRPr>
            </a:pPr>
            <a:r>
              <a:t>Think of commits as save points in a video game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CLAUDE.md — Your Agent's Rulebook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8ECF4"/>
                </a:solidFill>
                <a:latin typeface="Arial"/>
              </a:defRPr>
            </a:pPr>
            <a:r>
              <a:t>Lives at your project root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8ECF4"/>
                </a:solidFill>
                <a:latin typeface="Arial"/>
              </a:defRPr>
            </a:pPr>
            <a:r>
              <a:t>Auto-read at the start of every conversation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8ECF4"/>
                </a:solidFill>
                <a:latin typeface="Arial"/>
              </a:defRPr>
            </a:pPr>
            <a:r>
              <a:t>Defines personality, formats, constraints, conventions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8ECF4"/>
                </a:solidFill>
                <a:latin typeface="Arial"/>
              </a:defRPr>
            </a:pPr>
            <a:r>
              <a:t>This is context engineering — programming persistent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What Goes in CLAUDE.md?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Markdown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Courier New"/>
              </a:defRPr>
            </a:pPr>
            <a:r>
              <a:t># MeetupBot</a:t>
            </a:r>
            <a:br/>
            <a:br/>
            <a:r>
              <a:t>## Personality</a:t>
            </a:r>
            <a:br/>
            <a:r>
              <a:t>Friendly, organized, opinionated about good events.</a:t>
            </a:r>
            <a:br/>
            <a:br/>
            <a:r>
              <a:t>## Output Format</a:t>
            </a:r>
            <a:br/>
            <a:r>
              <a:t>IMPORTANT: All event data MUST be structured JSON.</a:t>
            </a:r>
            <a:br/>
            <a:br/>
            <a:r>
              <a:t>## Event Plan Schema</a:t>
            </a:r>
            <a:br/>
            <a:r>
              <a:t>- eventName, description, date, format, targetAudience</a:t>
            </a:r>
            <a:br/>
            <a:r>
              <a:t>- estimatedAttendees, suggestedDuration, topicTags</a:t>
            </a:r>
            <a:br/>
            <a:r>
              <a:t>- suggestedSpeakers, suggestedVenue, schedule, estimatedCost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CA3B4"/>
                </a:solidFill>
                <a:latin typeface="Arial"/>
              </a:defRPr>
            </a:pPr>
            <a:r>
              <a:t>Starter template available: templates/CLAUDE-starter.md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Why Structured Output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8BA8"/>
                </a:solidFill>
                <a:latin typeface="Arial"/>
              </a:defRPr>
            </a:pPr>
            <a:r>
              <a:t>Freeform Text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"The event could be on March 15th..."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Inconsistent formatting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0740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Hard to parse programmatically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41324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Different every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C495"/>
                </a:solidFill>
                <a:latin typeface="Arial"/>
              </a:defRPr>
            </a:pPr>
            <a:r>
              <a:t>Structured JSON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"date": "2026-03-15"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40156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Predictable schema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40740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Easy to pipe into other tools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41324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Reliable and repeatable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0" b="1">
                <a:solidFill>
                  <a:srgbClr val="E8853D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8ECF4"/>
                </a:solidFill>
                <a:latin typeface="Arial"/>
              </a:defRPr>
            </a:pPr>
            <a:r>
              <a:t>Creating CLAUDE.md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CA3B4"/>
                </a:solidFill>
                <a:latin typeface="Arial"/>
              </a:defRPr>
            </a:pPr>
            <a:r>
              <a:t>Same question, before and after — watch the output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Permissions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Interactive (default) — approve each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Auto Mode (Shift+Tab) — classifier auto-approves safe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Allow list — pre-configured in .claude/settings.local.json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Pre-approve: Bash(git *), Bash(python *), Bash(npm test)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ngrok AI Gateway — The 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Problem: Multiple AI providers = multiple API keys, no failover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Solution: One endpoint, multiple providers behind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Your App → ngrok AI Gateway → Anthropic / OpenAI / Google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Single API key, automatic routing, full observability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ngrok AI Gateway — 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One API key for all providers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Automatic failover if a provider goes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Cost routing — ngrok/auto picks the cheapest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PII redaction — strip sensitive data before it hits the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6235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SDK compatible — drop-in replacement, no code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Setting Up ngrok Gateway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Courier New"/>
              </a:defRPr>
            </a:pPr>
            <a:r>
              <a:t>{</a:t>
            </a:r>
            <a:br/>
            <a:r>
              <a:t>  "baseUrl": "https://your-gateway.ngrok.app/v1",</a:t>
            </a:r>
            <a:br/>
            <a:r>
              <a:t>  "apiKey": "ngrok-...",</a:t>
            </a:r>
            <a:br/>
            <a:r>
              <a:t>  "defaultModel": "ngrok/auto",</a:t>
            </a:r>
            <a:br/>
            <a:r>
              <a:t>  "fallbackModel": "gpt-4o"</a:t>
            </a:r>
            <a:br/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CA3B4"/>
                </a:solidFill>
                <a:latin typeface="Arial"/>
              </a:defRPr>
            </a:pPr>
            <a:r>
              <a:t>File: config/ngrok-gateway.json — all exercises work with any provider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Slash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Custom workflows that live in .claude/commands/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718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File name = command name: plan-event.md → /plan-event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Use $ARGUMENTS to capture user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They're just markdown — prompts with structure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Anatomy of a Slash Command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15600" y="1051560"/>
            <a:ext cx="1188720" cy="36576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Markdown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43891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164592" cy="164592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08760"/>
            <a:ext cx="164592" cy="164592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1508760"/>
            <a:ext cx="164592" cy="164592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Courier New"/>
              </a:defRPr>
            </a:pPr>
            <a:r>
              <a:t>Plan a meetup event for the following topic: $ARGUMENTS</a:t>
            </a:r>
            <a:br/>
            <a:br/>
            <a:r>
              <a:t>Follow these steps:</a:t>
            </a:r>
            <a:br/>
            <a:r>
              <a:t>1. Read CLAUDE.md for output format rules</a:t>
            </a:r>
            <a:br/>
            <a:r>
              <a:t>2. Generate an event plan as structured JSON</a:t>
            </a:r>
            <a:br/>
            <a:r>
              <a:t>3. Include: eventName, date, description,</a:t>
            </a:r>
            <a:br/>
            <a:r>
              <a:t>   targetAudience, suggestedSpeakers, schedule,</a:t>
            </a:r>
            <a:br/>
            <a:r>
              <a:t>   and estimatedCost</a:t>
            </a:r>
            <a:br/>
            <a:r>
              <a:t>4. Save the output to events/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9CA3B4"/>
                </a:solidFill>
                <a:latin typeface="Arial"/>
              </a:defRPr>
            </a:pPr>
            <a:r>
              <a:t>File: .claude/commands/plan-event.md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0" b="1">
                <a:solidFill>
                  <a:srgbClr val="E8853D"/>
                </a:solidFill>
                <a:latin typeface="Arial"/>
              </a:defRPr>
            </a:pPr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E8ECF4"/>
                </a:solidFill>
                <a:latin typeface="Arial"/>
              </a:defRPr>
            </a:pPr>
            <a:r>
              <a:t>Building /plan-event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8404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9CA3B4"/>
                </a:solidFill>
                <a:latin typeface="Arial"/>
              </a:defRPr>
            </a:pPr>
            <a:r>
              <a:t>Create the command, run it, check the JSON 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Power Keywords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011680" cy="45720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56231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219"/>
                </a:solidFill>
                <a:latin typeface="Courier New"/>
              </a:defRPr>
            </a:pPr>
            <a:r>
              <a:t>IMPORTANT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288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Elevates priority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2011680" cy="457200"/>
          </a:xfrm>
          <a:prstGeom prst="round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95351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219"/>
                </a:solidFill>
                <a:latin typeface="Courier New"/>
              </a:defRPr>
            </a:pPr>
            <a:r>
              <a:t>Proactively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2608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Act without asking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2011680" cy="457200"/>
          </a:xfrm>
          <a:prstGeom prst="round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5079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219"/>
                </a:solidFill>
                <a:latin typeface="Courier New"/>
              </a:defRPr>
            </a:pPr>
            <a:r>
              <a:t>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0233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Hard requirement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2011680" cy="457200"/>
          </a:xfrm>
          <a:prstGeom prst="round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48072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219"/>
                </a:solidFill>
                <a:latin typeface="Courier New"/>
              </a:defRPr>
            </a:pPr>
            <a:r>
              <a:t>NEVER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5120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Hard prohibition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9CA3B4"/>
                </a:solidFill>
                <a:latin typeface="Arial"/>
              </a:defRPr>
            </a:pPr>
            <a:r>
              <a:t>Use sparingly — if everything is IMPORTANT, nothing is. Also: /fast toggles speed, /effort controls reasoning depth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1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Tips &amp;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6C495"/>
                </a:solidFill>
                <a:latin typeface="Arial"/>
              </a:defRPr>
            </a:pPr>
            <a:r>
              <a:t>Do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Be specific — schemas, examples, constraints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Provide example output in your rules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0740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Commit often (save points!)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41324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Test with different inputs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38BA8"/>
                </a:solidFill>
                <a:latin typeface="Arial"/>
              </a:defRPr>
            </a:pPr>
            <a:r>
              <a:t>Don't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Say "production-ready" (meaningless to AI)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40156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Write vague rules like "be good at coding"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40740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Forget to commit before experimenting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413248"/>
            <a:ext cx="91440" cy="91440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8ECF4"/>
                </a:solidFill>
                <a:latin typeface="Arial"/>
              </a:defRPr>
            </a:pPr>
            <a:r>
              <a:t>Skip the CLAUDE.md — it's the foundation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457200"/>
            <a:ext cx="5790895" cy="5790895"/>
          </a:xfrm>
          <a:prstGeom prst="ellipse">
            <a:avLst/>
          </a:prstGeom>
          <a:solidFill>
            <a:srgbClr val="232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B4"/>
                </a:solidFill>
                <a:latin typeface="Arial"/>
              </a:defRPr>
            </a:pPr>
            <a:r>
              <a:t>TIME TO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0" b="1">
                <a:solidFill>
                  <a:srgbClr val="E8853D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8ECF4"/>
                </a:solidFill>
                <a:latin typeface="Arial"/>
              </a:defRPr>
            </a:pPr>
            <a:r>
              <a:t>Exercise: sessions/session-1/EXERCISE.md — ~30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5852160"/>
            <a:ext cx="2133295" cy="36576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Checkpoint — What You Should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2286000" cy="54864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38528"/>
            <a:ext cx="164592" cy="164592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072" y="1965960"/>
            <a:ext cx="109728" cy="109728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Git repo initialized with commits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15768"/>
            <a:ext cx="164592" cy="164592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2743200"/>
            <a:ext cx="109728" cy="109728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CLAUDE.md at project root with output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93008"/>
            <a:ext cx="164592" cy="164592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3520440"/>
            <a:ext cx="109728" cy="109728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Project structure with data/ directory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70248"/>
            <a:ext cx="164592" cy="164592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6072" y="4297680"/>
            <a:ext cx="109728" cy="109728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ngrok AI Gateway configured (or fallback)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47488"/>
            <a:ext cx="164592" cy="164592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" y="5074920"/>
            <a:ext cx="109728" cy="109728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  /plan-event slash command working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24728"/>
            <a:ext cx="164592" cy="164592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72" y="5852160"/>
            <a:ext cx="109728" cy="109728"/>
          </a:xfrm>
          <a:prstGeom prst="rect">
            <a:avLst/>
          </a:prstGeom>
          <a:solidFill>
            <a:srgbClr val="0F1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At least one event plan saved as JSON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ECF4"/>
                </a:solidFill>
                <a:latin typeface="Arial"/>
              </a:defRPr>
            </a:pPr>
            <a:r>
              <a:t>What's Next: 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B9CF5"/>
                </a:solidFill>
                <a:latin typeface="Arial"/>
              </a:defRPr>
            </a:pPr>
            <a:r>
              <a:t>Context Engineering: Blueprints Beat Prompts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40279"/>
            <a:ext cx="109728" cy="10972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INITIAL.md — project bootstrap instructions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46120"/>
            <a:ext cx="109728" cy="10972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PRP (Prompt-Reusable Patterns) — reusable blueprints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51960"/>
            <a:ext cx="109728" cy="10972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Comms system — draft emails, social posts, announcements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57800"/>
            <a:ext cx="109728" cy="10972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Moving from single commands to coordinated workflows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8ECF4"/>
                </a:solidFill>
                <a:latin typeface="Arial"/>
              </a:defRPr>
            </a:pPr>
            <a:r>
              <a:t>Session 1 Recap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CLAUDE.md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B4"/>
                </a:solidFill>
                <a:latin typeface="Arial"/>
              </a:defRPr>
            </a:pPr>
            <a:r>
              <a:t>Your agent's brain — every rule shapes every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Structured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B4"/>
                </a:solidFill>
                <a:latin typeface="Arial"/>
              </a:defRPr>
            </a:pPr>
            <a:r>
              <a:t>JSON schemas make agents reliable and composable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ngrok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B4"/>
                </a:solidFill>
                <a:latin typeface="Arial"/>
              </a:defRPr>
            </a:pPr>
            <a:r>
              <a:t>One endpoint, many providers — simplify keys, add failover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