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E8ECF4"/>
                </a:solidFill>
                <a:latin typeface="Arial"/>
              </a:rPr>
              <a:t>Building AI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CA3B4"/>
                </a:solidFill>
                <a:latin typeface="Arial"/>
              </a:rPr>
              <a:t>Session 4: Parallel Agents &amp; The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97680"/>
            <a:ext cx="8534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6C495"/>
                </a:solidFill>
                <a:latin typeface="Arial"/>
              </a:rPr>
              <a:t>"Non-determinism is a feature, not a bug"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853D"/>
                </a:solidFill>
                <a:latin typeface="Arial"/>
              </a:rPr>
              <a:t>Tucson Claude Code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Recap -- The Full System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/plan-event -- structured event planning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/build-schedule -- detailed schedule generation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/draft-announcement -- communication drafts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/draft-speaker-outreach -- personalized speaker emails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schedule-optimizer -- subagent specialist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comms-reviewer -- communication quality subagent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Auto-review hook -- triggered on comms writes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53D"/>
                </a:solidFill>
                <a:latin typeface="Arial"/>
              </a:rPr>
              <a:t>Today: parallel generation + learning from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Today's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53D"/>
                </a:solidFill>
                <a:latin typeface="Arial"/>
              </a:rPr>
              <a:t>Competing variants + a self-improving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Parallel subagents -- run multiple agents simultaneously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Evaluation-driven selection -- let specialists pick the winner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Git worktrees -- isolated workspaces for each variant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Feedback loops -- agents that learn from past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The Non-Determinism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2004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22860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00200"/>
            <a:ext cx="137160" cy="1371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600200"/>
            <a:ext cx="137160" cy="13716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600200"/>
            <a:ext cx="137160" cy="13716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943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4"/>
                </a:solidFill>
                <a:latin typeface="Courier New"/>
              </a:rPr>
              <a:t>"Plan a meetup about RAG pipelines"</a:t>
            </a:r>
            <a:br/>
            <a:r>
              <a:t>  -&gt; Response A (community-focused)</a:t>
            </a:r>
            <a:br/>
            <a:r>
              <a:t>  -&gt; Response B (deep technical)</a:t>
            </a:r>
            <a:br/>
            <a:r>
              <a:t>  -&gt; Response C (hands-on workshop)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459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CA3B4"/>
                </a:solidFill>
                <a:latin typeface="Arial"/>
              </a:rPr>
              <a:t>Usually this is a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8600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853D"/>
                </a:solidFill>
                <a:latin typeface="Arial"/>
              </a:rPr>
              <a:t>But what if we do it intentionally?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Generate 3 variants on purpose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Evaluate each objectively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Pick the best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853D"/>
                </a:solidFill>
                <a:latin typeface="Arial"/>
              </a:rPr>
              <a:t>Non-determinism + evaluation = better than any single attempt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Parallel Subagents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56032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2651760" cy="640080"/>
          </a:xfrm>
          <a:prstGeom prst="roundRect">
            <a:avLst/>
          </a:prstGeom>
          <a:solidFill>
            <a:srgbClr val="1A2030"/>
          </a:solidFill>
          <a:ln>
            <a:solidFill>
              <a:srgbClr val="5B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417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8ECF4"/>
                </a:solidFill>
                <a:latin typeface="Arial"/>
              </a:rPr>
              <a:t>Main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560320"/>
            <a:ext cx="2651760" cy="1097280"/>
          </a:xfrm>
          <a:prstGeom prst="roundRect">
            <a:avLst/>
          </a:prstGeom>
          <a:solidFill>
            <a:srgbClr val="1A2030"/>
          </a:solidFill>
          <a:ln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2651760" cy="457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853D"/>
                </a:solidFill>
                <a:latin typeface="Arial"/>
              </a:rPr>
              <a:t>V1: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Network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Focus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560320"/>
            <a:ext cx="2651760" cy="1097280"/>
          </a:xfrm>
          <a:prstGeom prst="roundRect">
            <a:avLst/>
          </a:prstGeom>
          <a:solidFill>
            <a:srgbClr val="1A2030"/>
          </a:solidFill>
          <a:ln>
            <a:solidFill>
              <a:srgbClr val="5B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560320"/>
            <a:ext cx="265176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9CF5"/>
                </a:solidFill>
                <a:latin typeface="Arial"/>
              </a:rPr>
              <a:t>V2: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Tech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60320"/>
            <a:ext cx="2651760" cy="1097280"/>
          </a:xfrm>
          <a:prstGeom prst="roundRect">
            <a:avLst/>
          </a:prstGeom>
          <a:solidFill>
            <a:srgbClr val="1A2030"/>
          </a:solidFill>
          <a:ln>
            <a:solidFill>
              <a:srgbClr val="56C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2651760" cy="457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6C495"/>
                </a:solidFill>
                <a:latin typeface="Arial"/>
              </a:rPr>
              <a:t>V3: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Hands-on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Workshop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011680"/>
            <a:ext cx="27432" cy="54864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011680"/>
            <a:ext cx="27432" cy="54864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2011680"/>
            <a:ext cx="27432" cy="54864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4114800"/>
            <a:ext cx="5760720" cy="731520"/>
          </a:xfrm>
          <a:prstGeom prst="roundRect">
            <a:avLst/>
          </a:prstGeom>
          <a:solidFill>
            <a:srgbClr val="1A2030"/>
          </a:solidFill>
          <a:ln>
            <a:solidFill>
              <a:srgbClr val="56C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160520"/>
            <a:ext cx="5760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6C495"/>
                </a:solidFill>
                <a:latin typeface="Arial"/>
              </a:rPr>
              <a:t>Specialists Score Each Variant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657600"/>
            <a:ext cx="27432" cy="4572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657600"/>
            <a:ext cx="27432" cy="4572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3657600"/>
            <a:ext cx="27432" cy="4572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0" y="5303520"/>
            <a:ext cx="3931920" cy="640080"/>
          </a:xfrm>
          <a:prstGeom prst="roundRect">
            <a:avLst/>
          </a:prstGeom>
          <a:solidFill>
            <a:srgbClr val="1A2030"/>
          </a:solidFill>
          <a:ln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349240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8853D"/>
                </a:solidFill>
                <a:latin typeface="Arial"/>
              </a:rPr>
              <a:t>Winner Selected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4846320"/>
            <a:ext cx="27432" cy="4572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How It Works -- 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2004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53D"/>
                </a:solidFill>
                <a:latin typeface="Arial"/>
              </a:rPr>
              <a:t>Git worktrees provide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315200" cy="22860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240280"/>
            <a:ext cx="137160" cy="1371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240280"/>
            <a:ext cx="137160" cy="13716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2240280"/>
            <a:ext cx="137160" cy="13716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Courier New"/>
              </a:rPr>
              <a:t>meetup-agent/        &lt;- main workspace</a:t>
            </a:r>
            <a:br/>
            <a:r>
              <a:t>meetup-agent-v1/     &lt;- variant 1 workspace</a:t>
            </a:r>
            <a:br/>
            <a:r>
              <a:t>meetup-agent-v2/     &lt;- variant 2 workspace</a:t>
            </a:r>
            <a:br/>
            <a:r>
              <a:t>meetup-agent-v3/     &lt;- variant 3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Each subagent works in its own copy of the repo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No conflicts between variants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B9CF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Claude handles the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Git Worktrees -- The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CA3B4"/>
                </a:solidFill>
                <a:latin typeface="Arial"/>
              </a:rPr>
              <a:t>A worktree is a separate working directory linked to the same Git repo.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8229600" cy="164592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240280"/>
            <a:ext cx="137160" cy="1371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240280"/>
            <a:ext cx="137160" cy="13716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2240280"/>
            <a:ext cx="137160" cy="13716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2148840"/>
            <a:ext cx="914400" cy="320040"/>
          </a:xfrm>
          <a:prstGeom prst="round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4884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1219"/>
                </a:solidFill>
                <a:latin typeface="Courier New"/>
              </a:rPr>
              <a:t>bash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6C495"/>
                </a:solidFill>
                <a:latin typeface="Courier New"/>
              </a:rPr>
              <a:t>git worktree add ../meetup-agent-v1 -b variant-1</a:t>
            </a:r>
            <a:br/>
            <a:r>
              <a:t>git worktree add ../meetup-agent-v2 -b variant-2</a:t>
            </a:r>
            <a:br/>
            <a:r>
              <a:t>git worktree add ../meetup-agent-v3 -b variant-3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CA3B4"/>
                </a:solidFill>
                <a:latin typeface="Arial"/>
              </a:rPr>
              <a:t>Claude Code's Agent tool uses isolation: "worktree"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853D"/>
                </a:solidFill>
                <a:latin typeface="Arial"/>
              </a:rPr>
              <a:t>You don't need special syntax -- just describe what you want: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058400" cy="9144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Courier New"/>
              </a:rPr>
              <a:t>Run 3 parallel subagents for the RAG Workshop brief.</a:t>
            </a:r>
            <a:br/>
            <a:r>
              <a:t>Each in its own worktree. V1: community-first. V2: deep-dive. V3: workshop-lab.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9CF5"/>
                </a:solidFill>
                <a:latin typeface="Arial"/>
              </a:rPr>
              <a:t>Same repo. Separate branches. Parallel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E8853D"/>
                </a:solidFill>
                <a:latin typeface="Arial"/>
              </a:rPr>
              <a:t>LIVE</a:t>
            </a:r>
            <a:br/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2286000"/>
            <a:ext cx="5943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E8ECF4"/>
                </a:solidFill>
                <a:latin typeface="Arial"/>
              </a:rPr>
              <a:t>Parallel</a:t>
            </a:r>
            <a:br/>
            <a:r>
              <a:t>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853D"/>
                </a:solidFill>
                <a:latin typeface="Arial"/>
              </a:rPr>
              <a:t>V1: </a:t>
            </a:r>
            <a:r>
              <a:rPr sz="1600">
                <a:solidFill>
                  <a:srgbClr val="E8ECF4"/>
                </a:solidFill>
                <a:latin typeface="Arial"/>
              </a:rPr>
              <a:t>Community-first -- Networking, demos, discussion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E8853D"/>
                </a:solidFill>
                <a:latin typeface="Arial"/>
              </a:rPr>
              <a:t>V2: </a:t>
            </a:r>
            <a:r>
              <a:rPr sz="1600">
                <a:solidFill>
                  <a:srgbClr val="E8ECF4"/>
                </a:solidFill>
                <a:latin typeface="Arial"/>
              </a:rPr>
              <a:t>Deep-dive -- Architecture, internals, patterns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E8853D"/>
                </a:solidFill>
                <a:latin typeface="Arial"/>
              </a:rPr>
              <a:t>V3: </a:t>
            </a:r>
            <a:r>
              <a:rPr sz="1600">
                <a:solidFill>
                  <a:srgbClr val="E8ECF4"/>
                </a:solidFill>
                <a:latin typeface="Arial"/>
              </a:rPr>
              <a:t>Workshop-lab -- Hands-on, build a RAG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669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9CF5"/>
                </a:solidFill>
                <a:latin typeface="Arial"/>
              </a:rPr>
              <a:t>Watch all 3 run simultaneously.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Evaluation -- Reusing Your Specialists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47472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CA3B4"/>
                </a:solidFill>
                <a:latin typeface="Arial"/>
              </a:rPr>
              <a:t>Remember our subagents from Session 3?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4846320" cy="18288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484632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9CF5"/>
                </a:solidFill>
                <a:latin typeface="Courier New"/>
              </a:rPr>
              <a:t>schedule-optimizer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297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Schedule quality, time allocation,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4846320" cy="18288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2286000"/>
            <a:ext cx="4846320" cy="457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6C495"/>
                </a:solidFill>
                <a:latin typeface="Courier New"/>
              </a:rPr>
              <a:t>comms-reviewer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4297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Announcement clarity, tone, completeness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853D"/>
                </a:solidFill>
                <a:latin typeface="Arial"/>
              </a:rPr>
              <a:t>Build once, reuse everywhere.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CA3B4"/>
                </a:solidFill>
                <a:latin typeface="Arial"/>
              </a:rPr>
              <a:t>Each specialist scores each variant on the same criteria.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E8853D"/>
                </a:solidFill>
                <a:latin typeface="Arial"/>
              </a:rPr>
              <a:t>LIVE</a:t>
            </a:r>
            <a:br/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2011680"/>
            <a:ext cx="5943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E8ECF4"/>
                </a:solidFill>
                <a:latin typeface="Arial"/>
              </a:rPr>
              <a:t>Scoring</a:t>
            </a:r>
            <a:br/>
            <a:r>
              <a:t>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8404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9CF5"/>
                </a:solidFill>
                <a:latin typeface="Arial"/>
              </a:rPr>
              <a:t>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8404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9CF5"/>
                </a:solidFill>
                <a:latin typeface="Arial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38404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9CF5"/>
                </a:solidFill>
                <a:latin typeface="Arial"/>
              </a:rPr>
              <a:t>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38404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9CF5"/>
                </a:solidFill>
                <a:latin typeface="Arial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297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Schedule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297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7/10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4297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8/10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9" y="4297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Announce 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9/10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47548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6/10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9" y="47548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8/10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2120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853D"/>
                </a:solidFill>
                <a:latin typeface="Arial"/>
              </a:rPr>
              <a:t>Overall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212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853D"/>
                </a:solidFill>
                <a:latin typeface="Arial"/>
              </a:rPr>
              <a:t>8.0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5212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853D"/>
                </a:solidFill>
                <a:latin typeface="Arial"/>
              </a:rPr>
              <a:t>7.0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5212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853D"/>
                </a:solidFill>
                <a:latin typeface="Arial"/>
              </a:rPr>
              <a:t>8.5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760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CA3B4"/>
                </a:solidFill>
                <a:latin typeface="Arial"/>
              </a:rPr>
              <a:t>The scores tell a story about tradeoffs.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Why This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188720"/>
            <a:ext cx="3657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853D"/>
                </a:solidFill>
                <a:latin typeface="Arial"/>
              </a:rPr>
              <a:t>Single Attempt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9CA3B4"/>
                </a:solidFill>
                <a:latin typeface="Arial"/>
              </a:rPr>
              <a:t>■  </a:t>
            </a:r>
            <a:r>
              <a:rPr sz="2000">
                <a:solidFill>
                  <a:srgbClr val="9CA3B4"/>
                </a:solidFill>
                <a:latin typeface="Arial"/>
              </a:rPr>
              <a:t>Hope it's good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9CA3B4"/>
                </a:solidFill>
                <a:latin typeface="Arial"/>
              </a:rPr>
              <a:t>■  </a:t>
            </a:r>
            <a:r>
              <a:rPr sz="2000">
                <a:solidFill>
                  <a:srgbClr val="9CA3B4"/>
                </a:solidFill>
                <a:latin typeface="Arial"/>
              </a:rPr>
              <a:t>Re-run if it isn't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9CA3B4"/>
                </a:solidFill>
                <a:latin typeface="Arial"/>
              </a:rPr>
              <a:t>■  </a:t>
            </a:r>
            <a:r>
              <a:rPr sz="2000">
                <a:solidFill>
                  <a:srgbClr val="9CA3B4"/>
                </a:solidFill>
                <a:latin typeface="Arial"/>
              </a:rPr>
              <a:t>No basis for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6C495"/>
                </a:solidFill>
                <a:latin typeface="Arial"/>
              </a:rPr>
              <a:t>Parallel +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3 different strategies explored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Objective scoring criteria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Combinable elements (best of each)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2000">
                <a:solidFill>
                  <a:srgbClr val="E8ECF4"/>
                </a:solidFill>
                <a:latin typeface="Arial"/>
              </a:rPr>
              <a:t>Reproducible evaluation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8853D"/>
                </a:solidFill>
                <a:latin typeface="Arial"/>
              </a:rPr>
              <a:t>This is how production AI systems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The Missing Piece --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92608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CA3B4"/>
                </a:solidFill>
                <a:latin typeface="Arial"/>
              </a:rPr>
              <a:t>Our agent plans great events. But it doesn't remember what happened.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E8853D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Estimated 40 attendees... but 35 showed up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E8853D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WiFi was slow at the venue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E8853D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Hands-on exercises ran 15 minutes too long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E8853D"/>
                </a:solidFill>
                <a:latin typeface="Arial"/>
              </a:rPr>
              <a:t>■  </a:t>
            </a:r>
            <a:r>
              <a:rPr sz="2200">
                <a:solidFill>
                  <a:srgbClr val="E8ECF4"/>
                </a:solidFill>
                <a:latin typeface="Arial"/>
              </a:rPr>
              <a:t>Lightning talks were the highlight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853D"/>
                </a:solidFill>
                <a:latin typeface="Arial"/>
              </a:rPr>
              <a:t>Without feedback: same mistakes, every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The Feedback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1188720"/>
          </a:xfrm>
          <a:prstGeom prst="roundRect">
            <a:avLst/>
          </a:prstGeom>
          <a:solidFill>
            <a:srgbClr val="1A2030"/>
          </a:solidFill>
          <a:ln>
            <a:solidFill>
              <a:srgbClr val="5B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01168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9CF5"/>
                </a:solidFill>
                <a:latin typeface="Arial"/>
              </a:rPr>
              <a:t>Plan Event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/plan-event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011680"/>
            <a:ext cx="2011680" cy="1188720"/>
          </a:xfrm>
          <a:prstGeom prst="roundRect">
            <a:avLst/>
          </a:prstGeom>
          <a:solidFill>
            <a:srgbClr val="1A2030"/>
          </a:solidFill>
          <a:ln>
            <a:solidFill>
              <a:srgbClr val="56C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2011680"/>
            <a:ext cx="2011680" cy="457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6C495"/>
                </a:solidFill>
                <a:latin typeface="Arial"/>
              </a:rPr>
              <a:t>Run Event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(real world)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011680"/>
            <a:ext cx="2011680" cy="1188720"/>
          </a:xfrm>
          <a:prstGeom prst="roundRect">
            <a:avLst/>
          </a:prstGeom>
          <a:solidFill>
            <a:srgbClr val="1A2030"/>
          </a:solidFill>
          <a:ln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011680"/>
            <a:ext cx="2011680" cy="457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194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853D"/>
                </a:solidFill>
                <a:latin typeface="Arial"/>
              </a:rPr>
              <a:t>Capture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2011680" cy="1188720"/>
          </a:xfrm>
          <a:prstGeom prst="roundRect">
            <a:avLst/>
          </a:prstGeom>
          <a:solidFill>
            <a:srgbClr val="1A2030"/>
          </a:solidFill>
          <a:ln>
            <a:solidFill>
              <a:srgbClr val="5B9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201168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9CF5"/>
                </a:solidFill>
                <a:latin typeface="Arial"/>
              </a:rPr>
              <a:t>Store in</a:t>
            </a:r>
          </a:p>
          <a:p>
            <a:pPr algn="ctr"/>
            <a:r>
              <a:rPr sz="1600" b="0">
                <a:solidFill>
                  <a:srgbClr val="E8ECF4"/>
                </a:solidFill>
                <a:latin typeface="Arial"/>
              </a:rPr>
              <a:t>past-events/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560320"/>
            <a:ext cx="457200" cy="36576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2560320"/>
            <a:ext cx="457200" cy="36576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2560320"/>
            <a:ext cx="457200" cy="36576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0" y="3383280"/>
            <a:ext cx="7498079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3200400"/>
            <a:ext cx="36576" cy="2743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3200400"/>
            <a:ext cx="36576" cy="2743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749039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853D"/>
                </a:solidFill>
                <a:latin typeface="Arial"/>
              </a:rPr>
              <a:t>Next /plan-event reads past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6C495"/>
                </a:solidFill>
                <a:latin typeface="Arial"/>
              </a:rPr>
              <a:t>The agent gets smarter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Post-Event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0" y="1143000"/>
            <a:ext cx="914400" cy="320040"/>
          </a:xfrm>
          <a:prstGeom prst="round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114300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1219"/>
                </a:solidFill>
                <a:latin typeface="Courier New"/>
              </a:rPr>
              <a:t>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515600" cy="530352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234440"/>
            <a:ext cx="137160" cy="1371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1234440"/>
            <a:ext cx="137160" cy="13716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1234440"/>
            <a:ext cx="137160" cy="13716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Courier New"/>
              </a:rPr>
              <a:t>{</a:t>
            </a:r>
            <a:br/>
            <a:r>
              <a:t>  "event": "RAG Pipeline Workshop",</a:t>
            </a:r>
            <a:br/>
            <a:r>
              <a:t>  "date": "2026-03-15",</a:t>
            </a:r>
            <a:br/>
            <a:r>
              <a:t>  "venue": "Maker Space Downtown",</a:t>
            </a:r>
            <a:br/>
            <a:r>
              <a:t>  "actualAttendees": 35,</a:t>
            </a:r>
            <a:br/>
            <a:r>
              <a:t>  "estimatedAttendees": 40,</a:t>
            </a:r>
            <a:br/>
            <a:r>
              <a:t>  "venueRating": 3,</a:t>
            </a:r>
            <a:br/>
            <a:r>
              <a:t>  "formatRating": 4.2,</a:t>
            </a:r>
            <a:br/>
            <a:r>
              <a:t>  "feedbackHighlights": [</a:t>
            </a:r>
            <a:br/>
            <a:r>
              <a:t>    "Lightning talks were the best part",</a:t>
            </a:r>
            <a:br/>
            <a:r>
              <a:t>    "Loved the hands-on exercises"</a:t>
            </a:r>
            <a:br/>
            <a:r>
              <a:t>  ],</a:t>
            </a:r>
            <a:br/>
            <a:r>
              <a:t>  "improvementAreas": [</a:t>
            </a:r>
            <a:br/>
            <a:r>
              <a:t>    "WiFi too slow for live coding",</a:t>
            </a:r>
            <a:br/>
            <a:r>
              <a:t>    "Exercises ran 15 min over time"</a:t>
            </a:r>
            <a:br/>
            <a:r>
              <a:t>  ],</a:t>
            </a:r>
            <a:br/>
            <a:r>
              <a:t>  "lessonsLearned": [</a:t>
            </a:r>
            <a:br/>
            <a:r>
              <a:t>    "Cap exercises at 20 min with hard cutoff",</a:t>
            </a:r>
            <a:br/>
            <a:r>
              <a:t>    "Test venue WiFi before committing",</a:t>
            </a:r>
            <a:br/>
            <a:r>
              <a:t>    "Lightning talks drive engagement"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How /plan-event Uses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188720"/>
            <a:ext cx="3657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CA3B4"/>
                </a:solidFill>
                <a:latin typeface="Arial"/>
              </a:rPr>
              <a:t>Before (no feedback)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937760" cy="22860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CA3B4"/>
                </a:solidFill>
                <a:latin typeface="Courier New"/>
              </a:rPr>
              <a:t>Venue: Maker Space Downtown</a:t>
            </a:r>
            <a:br/>
            <a:r>
              <a:t>  - Good location, affordable</a:t>
            </a:r>
            <a:br/>
            <a:br/>
            <a:r>
              <a:t>Exercises: 30 minutes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6C495"/>
                </a:solidFill>
                <a:latin typeface="Arial"/>
              </a:rPr>
              <a:t>After (with past-events/ data)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3200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9377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6C495"/>
                </a:solidFill>
                <a:latin typeface="Courier New"/>
              </a:rPr>
              <a:t>Venue: Tech Hub East</a:t>
            </a:r>
            <a:br/>
            <a:r>
              <a:t>  (Maker Space WiFi rated 3/10)</a:t>
            </a:r>
            <a:br/>
            <a:r>
              <a:t>  - Confirmed 100Mbps+ connection</a:t>
            </a:r>
            <a:br/>
            <a:br/>
            <a:r>
              <a:t>Exercises: 20 minutes max</a:t>
            </a:r>
            <a:br/>
            <a:r>
              <a:t>  (past events ran over)</a:t>
            </a:r>
            <a:br/>
            <a:r>
              <a:t>  - Added hard cutoff timers</a:t>
            </a:r>
            <a:br/>
            <a:br/>
            <a:r>
              <a:t>Lightning talks: Added 15-min block</a:t>
            </a:r>
            <a:br/>
            <a:r>
              <a:t>  (highest-rated segment)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53D"/>
                </a:solidFill>
                <a:latin typeface="Arial"/>
              </a:rPr>
              <a:t>Wiring it up: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914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CF4"/>
                </a:solidFill>
                <a:latin typeface="Courier New"/>
              </a:rPr>
              <a:t># In .claude/commands/plan-event.md, add:</a:t>
            </a:r>
            <a:br/>
            <a:r>
              <a:t>Before generating the plan, read all files in data/past-events/</a:t>
            </a:r>
            <a:br/>
            <a:r>
              <a:t>for lessons learned. Apply them to venue, format, and schedule.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E8853D"/>
                </a:solidFill>
                <a:latin typeface="Arial"/>
              </a:rPr>
              <a:t>LIVE</a:t>
            </a:r>
            <a:br/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2011680"/>
            <a:ext cx="5943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E8ECF4"/>
                </a:solidFill>
                <a:latin typeface="Arial"/>
              </a:rPr>
              <a:t>The Full</a:t>
            </a:r>
            <a:br/>
            <a:r>
              <a:t>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4"/>
                </a:solidFill>
                <a:latin typeface="Arial"/>
              </a:rPr>
              <a:t>1. Create mock feedback from a past event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4"/>
                </a:solidFill>
                <a:latin typeface="Arial"/>
              </a:rPr>
              <a:t>2. Run /plan-event for a new topic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4"/>
                </a:solidFill>
                <a:latin typeface="Arial"/>
              </a:rPr>
              <a:t>3. Watch the agent reference past feedback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4"/>
                </a:solidFill>
                <a:latin typeface="Arial"/>
              </a:rPr>
              <a:t>4. See recommendations change based on real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The Complete MeetupBot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92608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457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853D"/>
                </a:solidFill>
                <a:latin typeface="Arial"/>
              </a:rPr>
              <a:t>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Plans events with structured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16459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46888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9CF5"/>
                </a:solidFill>
                <a:latin typeface="Arial"/>
              </a:rPr>
              <a:t>Session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774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Composable pipeline of commands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468880" cy="457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6C495"/>
                </a:solidFill>
                <a:latin typeface="Arial"/>
              </a:rPr>
              <a:t>Session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774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Quality automation with specialists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16459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468880" cy="457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8288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853D"/>
                </a:solidFill>
                <a:latin typeface="Arial"/>
              </a:rPr>
              <a:t>Session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3774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8ECF4"/>
                </a:solidFill>
                <a:latin typeface="Arial"/>
              </a:rPr>
              <a:t>Self-improvement through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853D"/>
                </a:solidFill>
                <a:latin typeface="Arial"/>
              </a:rPr>
              <a:t>Final tally: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2468880" cy="1097280"/>
          </a:xfrm>
          <a:prstGeom prst="round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CF4"/>
                </a:solidFill>
                <a:latin typeface="Arial"/>
              </a:rPr>
              <a:t>5 slash commands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572000"/>
            <a:ext cx="2468880" cy="1097280"/>
          </a:xfrm>
          <a:prstGeom prst="round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7548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CF4"/>
                </a:solidFill>
                <a:latin typeface="Arial"/>
              </a:rPr>
              <a:t>2 subagents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2468880" cy="1097280"/>
          </a:xfrm>
          <a:prstGeom prst="round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7548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CF4"/>
                </a:solidFill>
                <a:latin typeface="Arial"/>
              </a:rPr>
              <a:t>1 hook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572000"/>
            <a:ext cx="2468880" cy="1097280"/>
          </a:xfrm>
          <a:prstGeom prst="round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47548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CF4"/>
                </a:solidFill>
                <a:latin typeface="Arial"/>
              </a:rPr>
              <a:t>1 feedback 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Production 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47472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CF5"/>
                </a:solidFill>
                <a:latin typeface="Arial"/>
              </a:rPr>
              <a:t>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CF5"/>
                </a:solidFill>
                <a:latin typeface="Arial"/>
              </a:rPr>
              <a:t>When to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515600" cy="1828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53D"/>
                </a:solidFill>
                <a:latin typeface="Courier New"/>
              </a:rP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Global rules, style, constraints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39"/>
            <a:ext cx="10515600" cy="64008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7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53D"/>
                </a:solidFill>
                <a:latin typeface="Courier New"/>
              </a:rPr>
              <a:t>Slash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26079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Repeatable, composable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53D"/>
                </a:solidFill>
                <a:latin typeface="Courier New"/>
              </a:rPr>
              <a:t>Subagents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Domain-specific evaluation or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10515600" cy="64008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53D"/>
                </a:solidFill>
                <a:latin typeface="Courier New"/>
              </a:rPr>
              <a:t>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38912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Automatic quality gates on 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53D"/>
                </a:solidFill>
                <a:latin typeface="Courier New"/>
              </a:rPr>
              <a:t>examples/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1206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Few-shot learning, output formatting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53D"/>
                </a:solidFill>
                <a:latin typeface="Courier New"/>
              </a:rPr>
              <a:t>PRPs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8521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Complex multi-step plans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Transferable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CA3B4"/>
                </a:solidFill>
                <a:latin typeface="Arial"/>
              </a:rPr>
              <a:t>These patterns work for any agent you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457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1219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53D"/>
                </a:solidFill>
                <a:latin typeface="Arial"/>
              </a:rPr>
              <a:t>Event JSON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-&gt;  Structured output for any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853D"/>
                </a:solidFill>
                <a:latin typeface="Arial"/>
              </a:rPr>
              <a:t>Composable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-&gt;  Task pipelines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920240"/>
            <a:ext cx="3383280" cy="41148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920240"/>
            <a:ext cx="338328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63439" y="2103120"/>
            <a:ext cx="457200" cy="45720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21031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1219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27432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9CF5"/>
                </a:solidFill>
                <a:latin typeface="Arial"/>
              </a:rPr>
              <a:t>schedule-optimizer / comms-reviewer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291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-&gt;  Domain specialist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389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9CF5"/>
                </a:solidFill>
                <a:latin typeface="Arial"/>
              </a:rPr>
              <a:t>Auto-review hook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937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-&gt;  Quality 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920240"/>
            <a:ext cx="3383280" cy="41148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3383280" cy="457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2103120"/>
            <a:ext cx="457200" cy="45720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1219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432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6C495"/>
                </a:solidFill>
                <a:latin typeface="Arial"/>
              </a:rPr>
              <a:t>3 competing variants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91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-&gt;  Non-determinism +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891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6C495"/>
                </a:solidFill>
                <a:latin typeface="Arial"/>
              </a:rPr>
              <a:t>past-events/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37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CF4"/>
                </a:solidFill>
                <a:latin typeface="Arial"/>
              </a:rPr>
              <a:t>-&gt;  Learning loops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2190" y="685800"/>
            <a:ext cx="5486400" cy="5486400"/>
          </a:xfrm>
          <a:prstGeom prst="ellipse">
            <a:avLst/>
          </a:prstGeom>
          <a:solidFill>
            <a:srgbClr val="23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0" b="1">
                <a:solidFill>
                  <a:srgbClr val="E8853D"/>
                </a:solidFill>
                <a:latin typeface="Arial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4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CA3B4"/>
                </a:solidFill>
                <a:latin typeface="Courier New"/>
              </a:rPr>
              <a:t>Exercise: sessions/session-4/EXERCISE.md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534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8ECF4"/>
                </a:solidFill>
                <a:latin typeface="Arial"/>
              </a:rPr>
              <a:t>Parallel variants, evaluation, and the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852160"/>
            <a:ext cx="8534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B9CF5"/>
                </a:solidFill>
                <a:latin typeface="Arial"/>
              </a:rPr>
              <a:t>~35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CA3B4"/>
                </a:solidFill>
                <a:latin typeface="Arial"/>
              </a:rPr>
              <a:t>By now you should have: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56C495"/>
                </a:solidFill>
                <a:latin typeface="Arial"/>
              </a:rPr>
              <a:t>☐  </a:t>
            </a:r>
            <a:r>
              <a:rPr sz="2200">
                <a:solidFill>
                  <a:srgbClr val="E8ECF4"/>
                </a:solidFill>
                <a:latin typeface="Arial"/>
              </a:rPr>
              <a:t>3 variants generated in parallel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56C495"/>
                </a:solidFill>
                <a:latin typeface="Arial"/>
              </a:rPr>
              <a:t>☐  </a:t>
            </a:r>
            <a:r>
              <a:rPr sz="2200">
                <a:solidFill>
                  <a:srgbClr val="E8ECF4"/>
                </a:solidFill>
                <a:latin typeface="Arial"/>
              </a:rPr>
              <a:t>Variants evaluated by your subagents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56C495"/>
                </a:solidFill>
                <a:latin typeface="Arial"/>
              </a:rPr>
              <a:t>☐  </a:t>
            </a:r>
            <a:r>
              <a:rPr sz="2200">
                <a:solidFill>
                  <a:srgbClr val="E8ECF4"/>
                </a:solidFill>
                <a:latin typeface="Arial"/>
              </a:rPr>
              <a:t>Winner selected based on scores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56C495"/>
                </a:solidFill>
                <a:latin typeface="Arial"/>
              </a:rPr>
              <a:t>☐  </a:t>
            </a:r>
            <a:r>
              <a:rPr sz="2200">
                <a:solidFill>
                  <a:srgbClr val="E8ECF4"/>
                </a:solidFill>
                <a:latin typeface="Arial"/>
              </a:rPr>
              <a:t>/post-event command working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56C495"/>
                </a:solidFill>
                <a:latin typeface="Arial"/>
              </a:rPr>
              <a:t>☐  </a:t>
            </a:r>
            <a:r>
              <a:rPr sz="2200">
                <a:solidFill>
                  <a:srgbClr val="E8ECF4"/>
                </a:solidFill>
                <a:latin typeface="Arial"/>
              </a:rPr>
              <a:t>Past feedback influencing new plans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Where to Go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56032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53D"/>
                </a:solidFill>
                <a:latin typeface="Arial"/>
              </a:rPr>
              <a:t>Routines (new!) -- Cloud automations without your laptop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515600" cy="4114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9CF5"/>
                </a:solidFill>
                <a:latin typeface="Arial"/>
              </a:rPr>
              <a:t>Scheduled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3736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CF4"/>
                </a:solidFill>
                <a:latin typeface="Arial"/>
              </a:rPr>
              <a:t>"Every Monday, suggest this week's meetup topic"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9CF5"/>
                </a:solidFill>
                <a:latin typeface="Arial"/>
              </a:rPr>
              <a:t>GitHub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9456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CF4"/>
                </a:solidFill>
                <a:latin typeface="Arial"/>
              </a:rPr>
              <a:t>"When a PR opens, review event plan changes"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515600" cy="4114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9CF5"/>
                </a:solidFill>
                <a:latin typeface="Arial"/>
              </a:rPr>
              <a:t>API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5176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CF4"/>
                </a:solidFill>
                <a:latin typeface="Arial"/>
              </a:rPr>
              <a:t>"When RSVP webhook fires, update attendee estimate"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CA3B4"/>
                </a:solidFill>
                <a:latin typeface="Arial"/>
              </a:rPr>
              <a:t>Available on Pro (5/day), Max (15/day), Team/Enterprise (25/day).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9CF5"/>
                </a:solidFill>
                <a:latin typeface="Arial"/>
              </a:rPr>
              <a:t>Claude Agent SDK -- embed agents in your 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7315200" cy="914400"/>
          </a:xfrm>
          <a:prstGeom prst="round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407408"/>
            <a:ext cx="109728" cy="109728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8720" y="4407408"/>
            <a:ext cx="109728" cy="109728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63040" y="4407408"/>
            <a:ext cx="109728" cy="109728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6C495"/>
                </a:solidFill>
                <a:latin typeface="Courier New"/>
              </a:rPr>
              <a:t>pip install claude-agent-sdk          # Python</a:t>
            </a:r>
            <a:br/>
            <a:r>
              <a:t>npm install @anthropic-ai/claude-agent-sdk  # TypeScript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6C495"/>
                </a:solidFill>
                <a:latin typeface="Arial"/>
              </a:rPr>
              <a:t>Extend MeetupBot: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1500">
                <a:solidFill>
                  <a:srgbClr val="E8ECF4"/>
                </a:solidFill>
                <a:latin typeface="Arial"/>
              </a:rPr>
              <a:t>MCP servers for Eventbrite, Google Calendar, Slack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1500">
                <a:solidFill>
                  <a:srgbClr val="E8ECF4"/>
                </a:solidFill>
                <a:latin typeface="Arial"/>
              </a:rPr>
              <a:t>More specialist subagents (budget-optimizer, sponsor-outreach)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1500">
                <a:solidFill>
                  <a:srgbClr val="E8ECF4"/>
                </a:solidFill>
                <a:latin typeface="Arial"/>
              </a:rPr>
              <a:t>Routines to automate the feedback loop on a schedule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56C495"/>
                </a:solidFill>
                <a:latin typeface="Arial"/>
              </a:rPr>
              <a:t>■  </a:t>
            </a:r>
            <a:r>
              <a:rPr sz="1500">
                <a:solidFill>
                  <a:srgbClr val="E8ECF4"/>
                </a:solidFill>
                <a:latin typeface="Arial"/>
              </a:rPr>
              <a:t>Agent SDK to embed MeetupBot in your own tools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Current Claude Models (April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65760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7432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8853D"/>
                </a:solidFill>
                <a:latin typeface="Arial"/>
              </a:rPr>
              <a:t>Opus 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ECF4"/>
                </a:solidFill>
                <a:latin typeface="Arial"/>
              </a:rPr>
              <a:t>Complex reasoning,</a:t>
            </a:r>
            <a:br/>
            <a:r>
              <a:t>long autonomy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657600"/>
            <a:ext cx="155448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5760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1M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27432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645920"/>
            <a:ext cx="3383280" cy="4572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9202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B9CF5"/>
                </a:solidFill>
                <a:latin typeface="Arial"/>
              </a:rPr>
              <a:t>Sonnet 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5603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ECF4"/>
                </a:solidFill>
                <a:latin typeface="Arial"/>
              </a:rPr>
              <a:t>Fast, capable</a:t>
            </a:r>
            <a:br/>
            <a:r>
              <a:t>general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59" y="3657600"/>
            <a:ext cx="1554480" cy="365760"/>
          </a:xfrm>
          <a:prstGeom prst="round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365760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1M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383280" cy="27432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383280" cy="4572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6C495"/>
                </a:solidFill>
                <a:latin typeface="Arial"/>
              </a:rPr>
              <a:t>Haiku 4.5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603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ECF4"/>
                </a:solidFill>
                <a:latin typeface="Arial"/>
              </a:rPr>
              <a:t>Quick tasks,</a:t>
            </a:r>
            <a:br/>
            <a:r>
              <a:t>triage,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657600"/>
            <a:ext cx="1554480" cy="365760"/>
          </a:xfrm>
          <a:prstGeom prst="round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65760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200K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CA3B4"/>
                </a:solidFill>
                <a:latin typeface="Arial"/>
              </a:rPr>
              <a:t>Claude Code surfaces: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B9CF5"/>
                </a:solidFill>
                <a:latin typeface="Arial"/>
              </a:rPr>
              <a:t>CLI</a:t>
            </a:r>
            <a:r>
              <a:rPr sz="1800">
                <a:solidFill>
                  <a:srgbClr val="9CA3B4"/>
                </a:solidFill>
                <a:latin typeface="Arial"/>
              </a:rPr>
              <a:t>   |   </a:t>
            </a:r>
            <a:r>
              <a:rPr sz="1800">
                <a:solidFill>
                  <a:srgbClr val="5B9CF5"/>
                </a:solidFill>
                <a:latin typeface="Arial"/>
              </a:rPr>
              <a:t>Desktop (Mac/Windows)</a:t>
            </a:r>
            <a:r>
              <a:rPr sz="1800">
                <a:solidFill>
                  <a:srgbClr val="9CA3B4"/>
                </a:solidFill>
                <a:latin typeface="Arial"/>
              </a:rPr>
              <a:t>   |   </a:t>
            </a:r>
            <a:r>
              <a:rPr sz="1800">
                <a:solidFill>
                  <a:srgbClr val="5B9CF5"/>
                </a:solidFill>
                <a:latin typeface="Arial"/>
              </a:rPr>
              <a:t>Web (claude.ai/code)</a:t>
            </a:r>
            <a:r>
              <a:rPr sz="1800">
                <a:solidFill>
                  <a:srgbClr val="9CA3B4"/>
                </a:solidFill>
                <a:latin typeface="Arial"/>
              </a:rPr>
              <a:t>   |   </a:t>
            </a:r>
            <a:r>
              <a:rPr sz="1800">
                <a:solidFill>
                  <a:srgbClr val="5B9CF5"/>
                </a:solidFill>
                <a:latin typeface="Arial"/>
              </a:rPr>
              <a:t>VS Code</a:t>
            </a:r>
            <a:r>
              <a:rPr sz="1800">
                <a:solidFill>
                  <a:srgbClr val="9CA3B4"/>
                </a:solidFill>
                <a:latin typeface="Arial"/>
              </a:rPr>
              <a:t>   |   </a:t>
            </a:r>
            <a:r>
              <a:rPr sz="1800">
                <a:solidFill>
                  <a:srgbClr val="5B9CF5"/>
                </a:solidFill>
                <a:latin typeface="Arial"/>
              </a:rPr>
              <a:t>JetBrains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CF4"/>
                </a:solidFill>
                <a:latin typeface="Arial"/>
              </a:rPr>
              <a:t>Course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6576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" cy="8229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853D"/>
                </a:solidFill>
                <a:latin typeface="Arial"/>
              </a:rPr>
              <a:t>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74980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CLAUDE.md rules shape agent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45720" cy="8229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5B9CF5"/>
                </a:solidFill>
                <a:latin typeface="Arial"/>
              </a:rPr>
              <a:t>Session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74980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Context &gt; prompts -- structure beats cleverness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45720" cy="82296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56C495"/>
                </a:solidFill>
                <a:latin typeface="Arial"/>
              </a:rPr>
              <a:t>Session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74980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Specialists &gt; monoliths -- compose expert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515600" cy="82296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45720" cy="8229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853D"/>
                </a:solidFill>
                <a:latin typeface="Arial"/>
              </a:rPr>
              <a:t>Session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480560"/>
            <a:ext cx="74980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E8ECF4"/>
                </a:solidFill>
                <a:latin typeface="Arial"/>
              </a:rPr>
              <a:t>Non-determinism + evaluation &gt; single attempts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CF5"/>
                </a:solidFill>
                <a:latin typeface="Arial"/>
              </a:rPr>
              <a:t>The meta-lesson: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8853D"/>
                </a:solidFill>
                <a:latin typeface="Arial"/>
              </a:rPr>
              <a:t>Better context, better architecture, better feedback &gt;&gt;&gt;&gt; smarter models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E8ECF4"/>
                </a:solidFill>
                <a:latin typeface="Arial"/>
              </a:rPr>
              <a:t>Thank You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365760" cy="3657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288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CF4"/>
                </a:solidFill>
                <a:latin typeface="Arial"/>
              </a:rPr>
              <a:t>Claude Code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B9CF5"/>
                </a:solidFill>
                <a:latin typeface="Courier New"/>
              </a:rPr>
              <a:t>code.claude.com/docs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468880"/>
            <a:ext cx="365760" cy="3657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688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CF4"/>
                </a:solidFill>
                <a:latin typeface="Arial"/>
              </a:rPr>
              <a:t>Claude Agent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B9CF5"/>
                </a:solidFill>
                <a:latin typeface="Courier New"/>
              </a:rPr>
              <a:t>code.claude.com/docs/en/agent-sdk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1089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CF4"/>
                </a:solidFill>
                <a:latin typeface="Arial"/>
              </a:rPr>
              <a:t>ngrok AI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B9CF5"/>
                </a:solidFill>
                <a:latin typeface="Courier New"/>
              </a:rPr>
              <a:t>ngrok.com/docs/ai-gateway/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749039"/>
            <a:ext cx="365760" cy="3657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3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49039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CF4"/>
                </a:solidFill>
                <a:latin typeface="Arial"/>
              </a:rPr>
              <a:t>Context Engineering Best Practices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49039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B9CF5"/>
                </a:solidFill>
                <a:latin typeface="Courier New"/>
              </a:rPr>
              <a:t>philschmid.de/context-engineering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389120"/>
            <a:ext cx="365760" cy="3657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3891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8912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CF4"/>
                </a:solidFill>
                <a:latin typeface="Arial"/>
              </a:rPr>
              <a:t>Claude Code Best Practices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38912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B9CF5"/>
                </a:solidFill>
                <a:latin typeface="Courier New"/>
              </a:rPr>
              <a:t>code.claude.com/docs/en/best-practices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5029200"/>
            <a:ext cx="365760" cy="36576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029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219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029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8ECF4"/>
                </a:solidFill>
                <a:latin typeface="Arial"/>
              </a:rPr>
              <a:t>Course Repo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02920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B9CF5"/>
                </a:solidFill>
                <a:latin typeface="Courier New"/>
              </a:rPr>
              <a:t>github.com/nickyeager/tucson-claude-code-meetup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8ECF4"/>
                </a:solidFill>
                <a:latin typeface="Arial"/>
              </a:rPr>
              <a:t>Questions?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E8853D"/>
                </a:solidFill>
                <a:latin typeface="Arial"/>
              </a:rPr>
              <a:t>Thank you for building with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