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 i="0">
                <a:solidFill>
                  <a:srgbClr val="E8ECF4"/>
                </a:solidFill>
                <a:latin typeface="Arial"/>
              </a:defRPr>
            </a:pPr>
            <a:r>
              <a:t>Building AI Agents with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CA3B4"/>
                </a:solidFill>
                <a:latin typeface="Arial"/>
              </a:defRPr>
            </a:pPr>
            <a:r>
              <a:t>Session 2: Context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9377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E8853D"/>
                </a:solidFill>
                <a:latin typeface="Arial"/>
              </a:defRPr>
            </a:pPr>
            <a:r>
              <a:t>Nick Yeager  ·  AI Solutions Architect  ·  nickcyeager.com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44068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9CA3B4"/>
                </a:solidFill>
                <a:latin typeface="Courier New"/>
              </a:defRPr>
            </a:pPr>
            <a:r>
              <a:t>github.com/ai-trailblazers/tucson-claude-code-meetup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Recap — Where We Left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You have: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A git repo with CLAUDE.md defining your agent's personality and schemas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/plan-event that generates structured JSON event plans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An LLM provider connected — Claude Code Max (default), Anthropic API, or ngrok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937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Sample venue and speaker data in data/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Today: build the comms and scheduling system using a different approach.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Today's Goal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A pipeline where /plan-event feeds /build-schedule and /draft-announcement.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Context engineering vs. prompt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7355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INITIAL.md — feature requests that actually 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96511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PRPs — implementation blueprints with validation gates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194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Composable slash commands that feed into each other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4243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The examples/ folder trick — show, don't describe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Why agents fail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Most failures aren't model failures. They're context failures.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Wrong output format → no schema provided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Missed constraint → never specified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Generic tone → no examples to 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Design Slop — AI output without context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67%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02336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246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 i="0">
                <a:solidFill>
                  <a:srgbClr val="E8ECF4"/>
                </a:solidFill>
                <a:latin typeface="Courier New"/>
              </a:defRPr>
            </a:pPr>
            <a:r>
              <a:t> Pattern                          What it looks like</a:t>
            </a:r>
            <a:br/>
            <a:r>
              <a:t> ────────────────────────────────  ─────────────────────────────────────</a:t>
            </a:r>
            <a:br/>
            <a:r>
              <a:t> Inter font, centered hero         Same headline layout</a:t>
            </a:r>
            <a:br/>
            <a:r>
              <a:t> "VibeCode Purple" palette         Same gradient, dark mode, grey text</a:t>
            </a:r>
            <a:br/>
            <a:r>
              <a:t> shadcn/ui cards with icon tops    Identical feature grids, numbered steps</a:t>
            </a:r>
            <a:br/>
            <a:r>
              <a:t> UPPERCASE badges above headings   ✨ INTRODUCING on every landing page</a:t>
            </a:r>
            <a:br/>
            <a:r>
              <a:t> Glassmorphism + gradient shadows  Same blurry card effect everywhere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Same thing happens to agent output: generic plans, generic emails, generic schedules.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500 Show HN sites: 67% used 2+ identical AI design patterns. Source: Adrian Krebs, "Design Slop".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Prompt Engineering vs. Context Engineering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VS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20624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428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Courier New"/>
              </a:defRPr>
            </a:pPr>
            <a:r>
              <a:t>                       Prompt Engineering          Context Engineering</a:t>
            </a:r>
            <a:br/>
            <a:r>
              <a:t> ─────────────────     ──────────────────────     ───────────────────────────</a:t>
            </a:r>
            <a:br/>
            <a:r>
              <a:t> Approach              Wording                    System</a:t>
            </a:r>
            <a:br/>
            <a:r>
              <a:t> What you give         "Write a good email"       Schema + examples + rules + data</a:t>
            </a:r>
            <a:br/>
            <a:r>
              <a:t> Strategy              AI guesses                 AI is told</a:t>
            </a:r>
            <a:br/>
            <a:r>
              <a:t> Failure mode          "Why didn't it know X?"    "I forgot to include X"</a:t>
            </a:r>
            <a:br/>
            <a:r>
              <a:t> Scalability           Breaks at complexity       Scales with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The problem becomes yours, not the model's.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Live Demo — The Difference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93776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4160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 i="0">
                <a:solidFill>
                  <a:srgbClr val="E8ECF4"/>
                </a:solidFill>
                <a:latin typeface="Courier New"/>
              </a:defRPr>
            </a:pPr>
            <a:r>
              <a:t># Prompt engineering</a:t>
            </a:r>
            <a:br/>
            <a:r>
              <a:t>Write an announcement email for a RAG meetup</a:t>
            </a:r>
            <a:br/>
            <a:br/>
            <a:br/>
            <a:r>
              <a:t># Context engineering</a:t>
            </a:r>
            <a:br/>
            <a:r>
              <a:t>Read the event plan at events/building-rag-pipelines.json,</a:t>
            </a:r>
            <a:br/>
            <a:r>
              <a:t>read data/speakers.json for speaker bios, and read</a:t>
            </a:r>
            <a:br/>
            <a:r>
              <a:t>examples/sample-event-plan.json for the expected format.</a:t>
            </a:r>
            <a:br/>
            <a:br/>
            <a:r>
              <a:t>Write an announcement email targeting intermediate Python</a:t>
            </a:r>
            <a:br/>
            <a:r>
              <a:t>developers. Keep it under 200 words, include the date,</a:t>
            </a:r>
            <a:br/>
            <a:r>
              <a:t>venue, and speaker highlights.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Same task. Two approaches. Watch the quality difference.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The Context Engineering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611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 i="0">
                <a:solidFill>
                  <a:srgbClr val="E8ECF4"/>
                </a:solidFill>
                <a:latin typeface="Courier New"/>
              </a:defRPr>
            </a:pPr>
            <a:r>
              <a:t>Layer                  Purpose</a:t>
            </a:r>
            <a:br/>
            <a:r>
              <a:t>─────────────────────  ──────────────────────────────────────────</a:t>
            </a:r>
            <a:br/>
            <a:r>
              <a:t>CLAUDE.md              Always-on rules (personality, schemas, constraints)</a:t>
            </a:r>
            <a:br/>
            <a:r>
              <a:t>examples/              Reference outputs the AI mimics</a:t>
            </a:r>
            <a:br/>
            <a:r>
              <a:t>data/                  Real information to work with</a:t>
            </a:r>
            <a:br/>
            <a:r>
              <a:t>INITIAL.md             Feature spec (what to build)</a:t>
            </a:r>
            <a:br/>
            <a:r>
              <a:t>PRPs/                  Implementation blueprint (how to build it)</a:t>
            </a:r>
            <a:br/>
            <a:r>
              <a:t>.claude/commands/      Reusable workflows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Each layer adds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INITIAL.md — The Feature Request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57200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794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 i="0">
                <a:solidFill>
                  <a:srgbClr val="E8ECF4"/>
                </a:solidFill>
                <a:latin typeface="Courier New"/>
              </a:defRPr>
            </a:pPr>
            <a:r>
              <a:t>## FEATURE:</a:t>
            </a:r>
            <a:br/>
            <a:r>
              <a:t>What to build — inputs, outputs, behavior</a:t>
            </a:r>
            <a:br/>
            <a:br/>
            <a:r>
              <a:t>## EXAMPLES:</a:t>
            </a:r>
            <a:br/>
            <a:r>
              <a:t>Files to learn from — point to actual files in your repo</a:t>
            </a:r>
            <a:br/>
            <a:br/>
            <a:r>
              <a:t>## DOCUMENTATION:</a:t>
            </a:r>
            <a:br/>
            <a:r>
              <a:t>APIs, schemas, constraints</a:t>
            </a:r>
            <a:br/>
            <a:br/>
            <a:r>
              <a:t>## OTHER CONSIDERATIONS:</a:t>
            </a:r>
            <a:br/>
            <a:r>
              <a:t>Gotchas, edge cases, integration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Templates: templates/INITIAL.md (blank) and templates/INITIAL_EXAMPLE.md (filled-out).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Good vs. Bad Feature Requests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INITIAL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611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 i="0">
                <a:solidFill>
                  <a:srgbClr val="E8ECF4"/>
                </a:solidFill>
                <a:latin typeface="Courier New"/>
              </a:defRPr>
            </a:pPr>
            <a:r>
              <a:t># Bad</a:t>
            </a:r>
            <a:br/>
            <a:r>
              <a:t>Build a scheduling system for meetups</a:t>
            </a:r>
            <a:br/>
            <a:br/>
            <a:br/>
            <a:r>
              <a:t># Good</a:t>
            </a:r>
            <a:br/>
            <a:r>
              <a:t>Build a scheduling system that reads event plan JSON from</a:t>
            </a:r>
            <a:br/>
            <a:r>
              <a:t>/plan-event output, fits talks into time slots using speaker</a:t>
            </a:r>
            <a:br/>
            <a:r>
              <a:t>availability from data/speakers.json, adds breaks every</a:t>
            </a:r>
            <a:br/>
            <a:r>
              <a:t>90 min, and outputs both markdown and JSON.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Specific &gt; Vague. Always.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Bad: no data sources, no constraints, no output format. Good: points to files, names constraints, defines outputs.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PRPs — Implementation Blueprints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PRP = Product Requirements Prompt. Like a PRD, but for AI coding assistants.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Complete context — everything the AI needs, in one 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Step-by-step plan — ordered tasks with dependencies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Validation gates — tests and checks that must 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937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Error handling — what to do when things go wrong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Generated from INITIAL.md by /generate-prp. Templates in templates/.claude/commands/.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The PRP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93776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4160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Courier New"/>
              </a:defRPr>
            </a:pPr>
            <a:r>
              <a:t>INITIAL.md  --&gt;  /generate-prp  --&gt;  PRPs/meetup-comms.md  --&gt;  /execute-prp  --&gt;  Code</a:t>
            </a:r>
            <a:br/>
            <a:r>
              <a:t>    ^                                       ^</a:t>
            </a:r>
            <a:br/>
            <a:r>
              <a:t>    |                                       |</a:t>
            </a:r>
            <a:br/>
            <a:r>
              <a:t>You write this                Claude researches the</a:t>
            </a:r>
            <a:br/>
            <a:r>
              <a:t>                              codebase and builds this</a:t>
            </a:r>
            <a:br/>
            <a:br/>
            <a:r>
              <a:t>  1. Describe the feature in INITIAL.md</a:t>
            </a:r>
            <a:br/>
            <a:r>
              <a:t>  2. /generate-prp reads codebase, analyzes patterns, generates blueprint</a:t>
            </a:r>
            <a:br/>
            <a:r>
              <a:t>  3. Review the PRP — catch misunderstandings early</a:t>
            </a:r>
            <a:br/>
            <a:r>
              <a:t>  4. /execute-prp follows the blueprint step by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Review the PRP before executing. Catching errors here is cheap.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Live Demo — /generate-prp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Run: /generate-prp INITIAL.md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Reads the feature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Analyzes existing code (CLAUDE.md, commands, data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Researches patterns from examples/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937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Generates a blueprint at PRPs/meetup-comms.md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Review questions: Does it understand the data flow? Pick up the speaker availability constraint? Reference the right files? Validation steps?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Live Demo — /execute-prp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Run: /execute-prp PRPs/meetup-comms.md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Reads the full PRP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004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35808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Creates .claude/commands/build-schedule.md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50207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85615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Creates .claude/commands/draft-announcement.md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00016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35424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Creates .claude/commands/draft-speaker-outreach.md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49824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85232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Validates against the event plan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Claude is following a blueprint you reviewed, not guessing.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When the PRP is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1">
                <a:solidFill>
                  <a:srgbClr val="9CA3B4"/>
                </a:solidFill>
                <a:latin typeface="Arial"/>
              </a:defRPr>
            </a:pPr>
            <a:r>
              <a:t>Most failures are catchable at review time — before /execute-prp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15568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8853D"/>
                </a:solidFill>
                <a:latin typeface="Arial"/>
              </a:defRPr>
            </a:pPr>
            <a:r>
              <a:t>Symptom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554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8853D"/>
                </a:solidFill>
                <a:latin typeface="Arial"/>
              </a:defRPr>
            </a:pPr>
            <a:r>
              <a:t>How you spot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8853D"/>
                </a:solidFill>
                <a:latin typeface="Arial"/>
              </a:defRPr>
            </a:pPr>
            <a:r>
              <a:t>How to fix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20824"/>
            <a:ext cx="11155680" cy="18288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093976"/>
            <a:ext cx="11247120" cy="678942"/>
          </a:xfrm>
          <a:prstGeom prst="rect">
            <a:avLst/>
          </a:prstGeom>
          <a:solidFill>
            <a:srgbClr val="18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76272"/>
            <a:ext cx="329184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PRP missed a constraint from INITIAL.md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76272"/>
            <a:ext cx="292608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Search the PRP for the keyword — it's not there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176272"/>
            <a:ext cx="475488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Add it to the Implementation Plan, save, re-run /execute-prp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00934"/>
            <a:ext cx="329184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Generated command hardcodes values instead of $ARGUMENTS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00934"/>
            <a:ext cx="292608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Open the new command file — paths are baked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900934"/>
            <a:ext cx="475488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Edit the command directly, or fix the PRP's pattern reference and re-execute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3300"/>
            <a:ext cx="11247120" cy="678942"/>
          </a:xfrm>
          <a:prstGeom prst="rect">
            <a:avLst/>
          </a:prstGeom>
          <a:solidFill>
            <a:srgbClr val="18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25596"/>
            <a:ext cx="329184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Output doesn't match the schema in CLAUDE.md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625596"/>
            <a:ext cx="292608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Run the command — JSON keys wrong, fields missing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625596"/>
            <a:ext cx="475488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Tighten the schema rules in CLAUDE.md — every future command benefits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350257"/>
            <a:ext cx="329184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/execute-prp left files half-done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350257"/>
            <a:ext cx="292608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Some command files in .claude/commands/ are 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350257"/>
            <a:ext cx="4754880" cy="633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Arial"/>
              </a:defRPr>
            </a:pPr>
            <a:r>
              <a:t>Re-run /execute-prp on the same PRP — existing files are read and respected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1">
                <a:solidFill>
                  <a:srgbClr val="E8853D"/>
                </a:solidFill>
                <a:latin typeface="Arial"/>
              </a:defRPr>
            </a:pPr>
            <a:r>
              <a:t>Leverage points: PRP and CLAUDE.md. Command files are downstream — fix upstream, regenerate downstream.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The Examples/ Folder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DIR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75488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977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 i="0">
                <a:solidFill>
                  <a:srgbClr val="E8ECF4"/>
                </a:solidFill>
                <a:latin typeface="Courier New"/>
              </a:defRPr>
            </a:pPr>
            <a:r>
              <a:t>examples/</a:t>
            </a:r>
            <a:br/>
            <a:r>
              <a:t>  sample-event-plan.json     "Make output look like this"</a:t>
            </a:r>
            <a:br/>
            <a:r>
              <a:t>  sample-announcement.md     "Match this tone and format"</a:t>
            </a:r>
            <a:br/>
            <a:r>
              <a:t>  sample-schedule.md         "Follow this structure"</a:t>
            </a:r>
            <a:br/>
            <a:br/>
            <a:r>
              <a:t>The AI pattern-matches against your examples.</a:t>
            </a:r>
            <a:br/>
            <a:br/>
            <a:r>
              <a:t>  - Specific JSON schema      -&gt;  show a sample file</a:t>
            </a:r>
            <a:br/>
            <a:r>
              <a:t>  - Particular email tone     -&gt;  include a real example</a:t>
            </a:r>
            <a:br/>
            <a:r>
              <a:t>  - Consistent formatting     -&gt;  provide a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264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Show it. Don't describe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The design slop sites all look the same because the AI had no examples to differentiate against.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Composable Slash Commands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PIPE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512064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4343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Courier New"/>
              </a:defRPr>
            </a:pPr>
            <a:r>
              <a:t>/plan-event "RAG pipelines"</a:t>
            </a:r>
            <a:br/>
            <a:r>
              <a:t>    --&gt; outputs events/rag-pipelines.json</a:t>
            </a:r>
            <a:br/>
            <a:br/>
            <a:r>
              <a:t>/build-schedule events/rag-pipelines.json</a:t>
            </a:r>
            <a:br/>
            <a:r>
              <a:t>    --&gt; outputs schedules/rag-pipelines.md + .json</a:t>
            </a:r>
            <a:br/>
            <a:br/>
            <a:r>
              <a:t>/draft-announcement events/rag-pipelines.json</a:t>
            </a:r>
            <a:br/>
            <a:r>
              <a:t>    --&gt; outputs comms/rag-pipelines-announcement.md</a:t>
            </a:r>
            <a:br/>
            <a:br/>
            <a:br/>
            <a:r>
              <a:t>Each command reads structured data from the previous one.</a:t>
            </a:r>
            <a:br/>
            <a:r>
              <a:t>  - Predictable format          -&gt;  reliable piping</a:t>
            </a:r>
            <a:br/>
            <a:r>
              <a:t>  - Schema in CLAUDE.md         -&gt;  every command knows the contract</a:t>
            </a:r>
            <a:br/>
            <a:r>
              <a:t>  - Structured beats freeform   -&gt;  for agent-to-agent communication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$ARGUMENTS in Slash Commands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57200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794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 i="0">
                <a:solidFill>
                  <a:srgbClr val="E8ECF4"/>
                </a:solidFill>
                <a:latin typeface="Courier New"/>
              </a:defRPr>
            </a:pPr>
            <a:r>
              <a:t>---</a:t>
            </a:r>
            <a:br/>
            <a:r>
              <a:t>name: build-schedule</a:t>
            </a:r>
            <a:br/>
            <a:r>
              <a:t>description: Build a schedule from an event plan</a:t>
            </a:r>
            <a:br/>
            <a:r>
              <a:t>argument-hint: [event-plan.json]</a:t>
            </a:r>
            <a:br/>
            <a:r>
              <a:t>allowed-tools: Read, Write</a:t>
            </a:r>
            <a:br/>
            <a:r>
              <a:t>---</a:t>
            </a:r>
            <a:br/>
            <a:br/>
            <a:r>
              <a:t>Build a schedule for the event plan at: $ARGUMENTS</a:t>
            </a:r>
            <a:br/>
            <a:br/>
            <a:r>
              <a:t>## Steps:</a:t>
            </a:r>
            <a:br/>
            <a:r>
              <a:t>1. Read $ARGUMENTS and data/speakers.json</a:t>
            </a:r>
            <a:br/>
            <a:r>
              <a:t>2. Fit talks into time slots, breaks every 90 min</a:t>
            </a:r>
            <a:br/>
            <a:r>
              <a:t>3. Output markdown + JSON to schedules/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/build-schedule events/rag-pipelines.json  →  $ARGUMENTS becomes the file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YAML frontmatter is the current convention. Plain markdown still works. Skills (.claude/skills/&lt;name&gt;/SKILL.md) — Session 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Tips &amp; Gotchas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89320" y="1280160"/>
            <a:ext cx="210312" cy="4937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62472" y="1280160"/>
            <a:ext cx="64008" cy="49377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37160" cy="45720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38BA8"/>
                </a:solidFill>
                <a:latin typeface="Arial"/>
              </a:defRPr>
            </a:pPr>
            <a:r>
              <a:t>Don't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40279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Skip INITIAL.md and go straight to coding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Write vague EXAMPLES sections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79476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Expect perfection on the first PRP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36792" y="1417320"/>
            <a:ext cx="137160" cy="4572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3716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6C495"/>
                </a:solidFill>
                <a:latin typeface="Arial"/>
              </a:defRPr>
            </a:pPr>
            <a:r>
              <a:t>Do</a:t>
            </a:r>
          </a:p>
        </p:txBody>
      </p:sp>
      <p:sp>
        <p:nvSpPr>
          <p:cNvPr id="16" name="Oval 15"/>
          <p:cNvSpPr/>
          <p:nvPr/>
        </p:nvSpPr>
        <p:spPr>
          <a:xfrm>
            <a:off x="6336792" y="2240279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21031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Review the PRP before executing</a:t>
            </a:r>
          </a:p>
        </p:txBody>
      </p:sp>
      <p:sp>
        <p:nvSpPr>
          <p:cNvPr id="18" name="Oval 17"/>
          <p:cNvSpPr/>
          <p:nvPr/>
        </p:nvSpPr>
        <p:spPr>
          <a:xfrm>
            <a:off x="6336792" y="301752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88036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Include OTHER CONSIDERATIONS — that's where edge cases live</a:t>
            </a:r>
          </a:p>
        </p:txBody>
      </p:sp>
      <p:sp>
        <p:nvSpPr>
          <p:cNvPr id="20" name="Oval 19"/>
          <p:cNvSpPr/>
          <p:nvPr/>
        </p:nvSpPr>
        <p:spPr>
          <a:xfrm>
            <a:off x="6336792" y="379476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36576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Add more examples to improve quality over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A bad PRP executed perfectly still gives you bad code. Don't skip the review.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8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0" b="1" i="0">
                <a:solidFill>
                  <a:srgbClr val="E8853D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371600"/>
            <a:ext cx="73152" cy="41148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0" y="237744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E8ECF4"/>
                </a:solidFill>
                <a:latin typeface="Arial"/>
              </a:defRPr>
            </a:pPr>
            <a: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3840480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CA3B4"/>
                </a:solidFill>
                <a:latin typeface="Arial"/>
              </a:defRPr>
            </a:pPr>
            <a:r>
              <a:t>Build the comms and scheduling pipeline via PRP — about 40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You should have: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INITIAL.md with a complete feature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Generated PRP in PRPs/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/build-schedule, /draft-announcement, /draft-speaker-outreach all working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937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All commands consuming JSON from previous steps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6035040"/>
            <a:ext cx="10972800" cy="64008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4476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8ECF4"/>
                </a:solidFill>
                <a:latin typeface="Courier New"/>
              </a:defRPr>
            </a:pPr>
            <a:r>
              <a:t>Quick test:   /plan-event "Topic"  --&gt;  /build-schedule  --&gt;  /draft-announcement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What's Next — Session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Subagents &amp; Hooks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Subagents — split into specialists (schedule optimizer, comms reviewer, quality checker)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Hooks — automate checks that run on every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Right now, one agent does everything. Next session: a coordinated team.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Recap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73351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Context engineering &gt; prompt engineering — give the AI everything it needs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8775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INITIAL.md → PRP → Execute — describe WHAT, generate HOW, execute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50215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Composable commands via structured JSON — schemas enable data flow between commands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