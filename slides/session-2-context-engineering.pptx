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E8ECF4"/>
                </a:solidFill>
                <a:latin typeface="Arial"/>
              </a:defRPr>
            </a:pPr>
            <a:r>
              <a:t>Building AI Agents with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5B9CF5"/>
                </a:solidFill>
                <a:latin typeface="Arial"/>
              </a:defRPr>
            </a:pPr>
            <a:r>
              <a:t>Session 2: Context Engineering — Blueprints Beat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9CA3B4"/>
                </a:solidFill>
                <a:latin typeface="Arial"/>
              </a:defRPr>
            </a:pPr>
            <a:r>
              <a:t>"Stop prompting. Start engineering."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9CA3B4"/>
                </a:solidFill>
                <a:latin typeface="Arial"/>
              </a:defRPr>
            </a:pPr>
            <a:r>
              <a:t>Tucson Claude Code Meetup  |  AI-Trailblazers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Arial"/>
              </a:defRPr>
            </a:pPr>
            <a:r>
              <a:t>Recap — Where We Left 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32004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9CA3B4"/>
                </a:solidFill>
                <a:latin typeface="Arial"/>
              </a:defRPr>
            </a:pPr>
            <a:r>
              <a:t>You have: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058400" cy="2743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400"/>
              </a:spcBef>
              <a:spcAft>
                <a:spcPts val="16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A git repo with CLAUDE.md defining your agent’s personality and schemas</a:t>
            </a:r>
          </a:p>
          <a:p>
            <a:pPr>
              <a:spcBef>
                <a:spcPts val="400"/>
              </a:spcBef>
              <a:spcAft>
                <a:spcPts val="16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/plan-event that generates structured JSON event plans</a:t>
            </a:r>
          </a:p>
          <a:p>
            <a:pPr>
              <a:spcBef>
                <a:spcPts val="400"/>
              </a:spcBef>
              <a:spcAft>
                <a:spcPts val="16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ngrok AI Gateway connected and routing traffic</a:t>
            </a:r>
          </a:p>
          <a:p>
            <a:pPr>
              <a:spcBef>
                <a:spcPts val="400"/>
              </a:spcBef>
              <a:spcAft>
                <a:spcPts val="16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Sample venue and speaker data in data/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572000"/>
            <a:ext cx="10515600" cy="9144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853D"/>
                </a:solidFill>
                <a:latin typeface="Arial"/>
              </a:defRPr>
            </a:pPr>
            <a:r>
              <a:t>Today: You’ll build the comms and scheduling system using a completely different approach.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Arial"/>
              </a:defRPr>
            </a:pPr>
            <a:r>
              <a:t>Today’s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22860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515600" cy="109728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8853D"/>
                </a:solidFill>
                <a:latin typeface="Arial"/>
              </a:defRPr>
            </a:pPr>
            <a:r>
              <a:t>SESSION 2 MILESTONE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E8ECF4"/>
                </a:solidFill>
                <a:latin typeface="Arial"/>
              </a:defRPr>
            </a:pPr>
            <a:r>
              <a:t>A pipeline where /plan-event feeds into /build-schedule and /draft-announcement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9CA3B4"/>
                </a:solidFill>
                <a:latin typeface="Arial"/>
              </a:defRPr>
            </a:pPr>
            <a:r>
              <a:t>You’ll learn: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058400" cy="2926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Context engineering vs. prompt engineering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INITIAL.md — feature requests that actually work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PRPs — implementation blueprints with validation gates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Composable slash commands that feed into each other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The examples/ folder trick — show, don’t describe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Arial"/>
              </a:defRPr>
            </a:pPr>
            <a:r>
              <a:t>The Core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27432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5B9CF5"/>
                </a:solidFill>
                <a:latin typeface="Arial"/>
              </a:defRPr>
            </a:pPr>
            <a:r>
              <a:t>Why do AI agents fail?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E8ECF4"/>
                </a:solidFill>
                <a:latin typeface="Arial"/>
              </a:defRPr>
            </a:pPr>
            <a:r>
              <a:t>Most agent failures aren’t model failures.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E8853D"/>
                </a:solidFill>
                <a:latin typeface="Arial"/>
              </a:defRPr>
            </a:pPr>
            <a:r>
              <a:t>They’re context failures.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9CA3B4"/>
                </a:solidFill>
                <a:latin typeface="Arial"/>
              </a:defRPr>
            </a:pPr>
            <a:r>
              <a:t>The AI was smart enough. It just didn’t have the right information.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400">
                <a:solidFill>
                  <a:srgbClr val="E8853D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Wrong output format? It didn’t know the schema.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400">
                <a:solidFill>
                  <a:srgbClr val="E8853D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Missed a constraint? Nobody told it.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400">
                <a:solidFill>
                  <a:srgbClr val="E8853D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Generic tone? No examples to match against.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486400"/>
            <a:ext cx="10515600" cy="73152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E8853D"/>
                </a:solidFill>
                <a:latin typeface="Arial"/>
              </a:defRPr>
            </a:pPr>
            <a:r>
              <a:t>The model isn’t the bottleneck. Your context 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E8ECF4"/>
                </a:solidFill>
                <a:latin typeface="Arial"/>
              </a:defRPr>
            </a:pPr>
            <a:r>
              <a:t>Prompt Engineering vs Context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0" y="1280160"/>
            <a:ext cx="36576" cy="50292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0" y="1280160"/>
            <a:ext cx="402336" cy="50292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9CA3B4"/>
                </a:solidFill>
                <a:latin typeface="Arial"/>
              </a:defRPr>
            </a:pPr>
            <a:r>
              <a:t>Prompt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303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56C495"/>
                </a:solidFill>
                <a:latin typeface="Arial"/>
              </a:defRPr>
            </a:pPr>
            <a:r>
              <a:t>Context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6459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8853D"/>
                </a:solidFill>
                <a:latin typeface="Arial"/>
              </a:defRPr>
            </a:pPr>
            <a:r>
              <a:t>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920240"/>
            <a:ext cx="34747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CA3B4"/>
                </a:solidFill>
                <a:latin typeface="Arial"/>
              </a:defRPr>
            </a:pPr>
            <a:r>
              <a:t>Clever wording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E8ECF4"/>
                </a:solidFill>
                <a:latin typeface="Arial"/>
              </a:defRPr>
            </a:pPr>
            <a:r>
              <a:t>Complete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78608"/>
            <a:ext cx="16459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8853D"/>
                </a:solidFill>
                <a:latin typeface="Arial"/>
              </a:defRPr>
            </a:pPr>
            <a:r>
              <a:t>Analogy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578608"/>
            <a:ext cx="34747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CA3B4"/>
                </a:solidFill>
                <a:latin typeface="Arial"/>
              </a:defRPr>
            </a:pPr>
            <a:r>
              <a:t>Sticky note on a desk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78608"/>
            <a:ext cx="50292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E8ECF4"/>
                </a:solidFill>
                <a:latin typeface="Arial"/>
              </a:defRPr>
            </a:pPr>
            <a:r>
              <a:t>Full screenplay with stage directions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36976"/>
            <a:ext cx="16459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8853D"/>
                </a:solidFill>
                <a:latin typeface="Arial"/>
              </a:defRPr>
            </a:pPr>
            <a:r>
              <a:t>What you give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236976"/>
            <a:ext cx="34747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CA3B4"/>
                </a:solidFill>
                <a:latin typeface="Arial"/>
              </a:defRPr>
            </a:pPr>
            <a:r>
              <a:t>"Write a good email"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36976"/>
            <a:ext cx="50292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E8ECF4"/>
                </a:solidFill>
                <a:latin typeface="Arial"/>
              </a:defRPr>
            </a:pPr>
            <a:r>
              <a:t>Schema + examples + rules + data + tone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95344"/>
            <a:ext cx="16459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8853D"/>
                </a:solidFill>
                <a:latin typeface="Arial"/>
              </a:defRPr>
            </a:pPr>
            <a:r>
              <a:t>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895344"/>
            <a:ext cx="34747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CA3B4"/>
                </a:solidFill>
                <a:latin typeface="Arial"/>
              </a:defRPr>
            </a:pPr>
            <a:r>
              <a:t>Hopes the AI guesses right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895344"/>
            <a:ext cx="50292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E8ECF4"/>
                </a:solidFill>
                <a:latin typeface="Arial"/>
              </a:defRPr>
            </a:pPr>
            <a:r>
              <a:t>Gives the AI everything it needs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53712"/>
            <a:ext cx="16459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8853D"/>
                </a:solidFill>
                <a:latin typeface="Arial"/>
              </a:defRPr>
            </a:pPr>
            <a:r>
              <a:t>Failure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553712"/>
            <a:ext cx="34747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CA3B4"/>
                </a:solidFill>
                <a:latin typeface="Arial"/>
              </a:defRPr>
            </a:pPr>
            <a:r>
              <a:t>"Why didn't it know X?"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53712"/>
            <a:ext cx="50292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E8ECF4"/>
                </a:solidFill>
                <a:latin typeface="Arial"/>
              </a:defRPr>
            </a:pPr>
            <a:r>
              <a:t>"I forgot to include X"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12079"/>
            <a:ext cx="16459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8853D"/>
                </a:solidFill>
                <a:latin typeface="Arial"/>
              </a:defRPr>
            </a:pPr>
            <a:r>
              <a:t>Scalability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212079"/>
            <a:ext cx="34747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CA3B4"/>
                </a:solidFill>
                <a:latin typeface="Arial"/>
              </a:defRPr>
            </a:pPr>
            <a:r>
              <a:t>Breaks at complexity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212079"/>
            <a:ext cx="50292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E8ECF4"/>
                </a:solidFill>
                <a:latin typeface="Arial"/>
              </a:defRPr>
            </a:pPr>
            <a:r>
              <a:t>Scales with structure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943600"/>
            <a:ext cx="10332720" cy="64008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989320"/>
            <a:ext cx="9784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E8853D"/>
                </a:solidFill>
                <a:latin typeface="Arial"/>
              </a:defRPr>
            </a:pPr>
            <a:r>
              <a:t>Key insight: Context engineering makes the problem your responsibility, not the model’s.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8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0" b="1">
                <a:solidFill>
                  <a:srgbClr val="E8853D"/>
                </a:solidFill>
                <a:latin typeface="Arial"/>
              </a:defRPr>
            </a:pPr>
            <a: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4114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0" b="1">
                <a:solidFill>
                  <a:srgbClr val="E8853D"/>
                </a:solidFill>
                <a:latin typeface="Arial"/>
              </a:defRPr>
            </a:pPr>
            <a: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828800"/>
            <a:ext cx="5943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E8ECF4"/>
                </a:solidFill>
                <a:latin typeface="Arial"/>
              </a:defRPr>
            </a:pPr>
            <a:r>
              <a:t>The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926080"/>
            <a:ext cx="5943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9CA3B4"/>
                </a:solidFill>
                <a:latin typeface="Arial"/>
              </a:defRPr>
            </a:pPr>
            <a:r>
              <a:t>Same task, two approaches: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65760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9CA3B4"/>
                </a:solidFill>
                <a:latin typeface="Arial"/>
              </a:defRPr>
            </a:pPr>
            <a:r>
              <a:t>Prompt 1 (prompt engineering):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4023360"/>
            <a:ext cx="5760720" cy="548640"/>
          </a:xfrm>
          <a:prstGeom prst="round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4069080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CA3B4"/>
                </a:solidFill>
                <a:latin typeface="Courier New"/>
              </a:defRPr>
            </a:pPr>
            <a:r>
              <a:t>"Write an announcement email for a RAG meetup"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475488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56C495"/>
                </a:solidFill>
                <a:latin typeface="Arial"/>
              </a:defRPr>
            </a:pPr>
            <a:r>
              <a:t>Prompt 2 (context engineering):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5120640"/>
            <a:ext cx="5760720" cy="1188720"/>
          </a:xfrm>
          <a:prstGeom prst="round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5166360"/>
            <a:ext cx="5303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56C495"/>
                </a:solidFill>
                <a:latin typeface="Courier New"/>
              </a:defRPr>
            </a:pPr>
            <a:r>
              <a:t>Read the event plan, speaker bios, and sample</a:t>
            </a:r>
            <a:br/>
            <a:r>
              <a:t>format. Write a 200-word announcement for</a:t>
            </a:r>
            <a:br/>
            <a:r>
              <a:t>intermediate Python developers.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Arial"/>
              </a:defRPr>
            </a:pPr>
            <a:r>
              <a:t>The Context Engineering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36576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515600" cy="713232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" cy="713232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853D"/>
                </a:solidFill>
                <a:latin typeface="Courier New"/>
              </a:defRPr>
            </a:pPr>
            <a:r>
              <a:t>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572768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Always-on rules (personality, schemas, constraints)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515600" cy="713232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249424"/>
            <a:ext cx="54864" cy="713232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59152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5B9CF5"/>
                </a:solidFill>
                <a:latin typeface="Courier New"/>
              </a:defRPr>
            </a:pPr>
            <a:r>
              <a:t>examples/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359152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Reference outputs the AI mimics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35808"/>
            <a:ext cx="10515600" cy="713232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35808"/>
            <a:ext cx="54864" cy="713232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45536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56C495"/>
                </a:solidFill>
                <a:latin typeface="Courier New"/>
              </a:defRPr>
            </a:pPr>
            <a:r>
              <a:t>data/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145536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Real information to work with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22191"/>
            <a:ext cx="10515600" cy="713232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22191"/>
            <a:ext cx="54864" cy="713232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853D"/>
                </a:solidFill>
                <a:latin typeface="Courier New"/>
              </a:defRPr>
            </a:pPr>
            <a:r>
              <a:t>INITIAL.md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93192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Feature spec (what to build)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08576"/>
            <a:ext cx="10515600" cy="713232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608576"/>
            <a:ext cx="54864" cy="713232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18304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5B9CF5"/>
                </a:solidFill>
                <a:latin typeface="Courier New"/>
              </a:defRPr>
            </a:pPr>
            <a:r>
              <a:t>PRPs/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718304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Implementation blueprint (how to build it)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94960"/>
            <a:ext cx="10515600" cy="713232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394960"/>
            <a:ext cx="54864" cy="713232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504688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56C495"/>
                </a:solidFill>
                <a:latin typeface="Courier New"/>
              </a:defRPr>
            </a:pPr>
            <a:r>
              <a:t>.claude/commands/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504688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Reusable workflows (composable tools)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21792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E8853D"/>
                </a:solidFill>
                <a:latin typeface="Arial"/>
              </a:defRPr>
            </a:pPr>
            <a:r>
              <a:t>Each layer adds context. More context = better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Arial"/>
              </a:defRPr>
            </a:pPr>
            <a:r>
              <a:t>INITIAL.md — The Feature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41148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9CA3B4"/>
                </a:solidFill>
                <a:latin typeface="Arial"/>
              </a:defRPr>
            </a:pPr>
            <a:r>
              <a:t>A structured feature request with four sections: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515600" cy="82296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4864" cy="82296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84832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853D"/>
                </a:solidFill>
                <a:latin typeface="Courier New"/>
              </a:defRPr>
            </a:pPr>
            <a:r>
              <a:t>## FEATURE: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What to build — be specific about inputs, outputs, behavior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17520"/>
            <a:ext cx="10515600" cy="82296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017520"/>
            <a:ext cx="54864" cy="8229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90672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5B9CF5"/>
                </a:solidFill>
                <a:latin typeface="Courier New"/>
              </a:defRPr>
            </a:pPr>
            <a:r>
              <a:t>## EXAMPLES: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2900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Files to learn from — point to actual files in your repo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10515600" cy="82296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4864" cy="82296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96512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56C495"/>
                </a:solidFill>
                <a:latin typeface="Courier New"/>
              </a:defRPr>
            </a:pPr>
            <a:r>
              <a:t>## DOCUMENTATION: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3484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APIs, schemas, constraints — the rules it must follow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029200"/>
            <a:ext cx="10515600" cy="82296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029200"/>
            <a:ext cx="54864" cy="82296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102352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853D"/>
                </a:solidFill>
                <a:latin typeface="Courier New"/>
              </a:defRPr>
            </a:pPr>
            <a:r>
              <a:t>## OTHER CONSIDERATIONS: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44068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Gotchas, edge cases, integration points — what could go wrong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2648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E8853D"/>
                </a:solidFill>
                <a:latin typeface="Arial"/>
              </a:defRPr>
            </a:pPr>
            <a:r>
              <a:t>This replaces vague Slack messages with an engineering spec.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E8ECF4"/>
                </a:solidFill>
                <a:latin typeface="Arial"/>
              </a:defRPr>
            </a:pPr>
            <a:r>
              <a:t>Good vs Bad Feature Requests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0" y="1188720"/>
            <a:ext cx="36576" cy="530352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9CA3B4"/>
                </a:solidFill>
                <a:latin typeface="Arial"/>
              </a:defRPr>
            </a:pPr>
            <a:r>
              <a:t>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914400"/>
          </a:xfrm>
          <a:prstGeom prst="round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754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CA3B4"/>
                </a:solidFill>
                <a:latin typeface="Courier New"/>
              </a:defRPr>
            </a:pPr>
            <a:r>
              <a:t>Build a scheduling system for meetups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530352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400">
                <a:solidFill>
                  <a:srgbClr val="9CA3B4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No data sources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400">
                <a:solidFill>
                  <a:srgbClr val="9CA3B4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No constraints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400">
                <a:solidFill>
                  <a:srgbClr val="9CA3B4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No output format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400">
                <a:solidFill>
                  <a:srgbClr val="9CA3B4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Ambiguous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188720"/>
            <a:ext cx="5303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56C495"/>
                </a:solidFill>
                <a:latin typeface="Arial"/>
              </a:defRPr>
            </a:pPr>
            <a:r>
              <a:t>Good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303520" cy="1828800"/>
          </a:xfrm>
          <a:prstGeom prst="round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56C495"/>
                </a:solidFill>
                <a:latin typeface="Courier New"/>
              </a:defRPr>
            </a:pPr>
            <a:r>
              <a:t>Build a scheduling system that</a:t>
            </a:r>
            <a:br/>
            <a:r>
              <a:t>reads event plan JSON, fits talks</a:t>
            </a:r>
            <a:br/>
            <a:r>
              <a:t>into time slots using availability,</a:t>
            </a:r>
            <a:br/>
            <a:r>
              <a:t>adds breaks every 90 min, outputs</a:t>
            </a:r>
            <a:br/>
            <a:r>
              <a:t>markdown and JSON.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931920"/>
            <a:ext cx="530352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Points to specific files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Break intervals, availability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Markdown + JSON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Reads from, outputs 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5943600"/>
            <a:ext cx="8503920" cy="64008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5989320"/>
            <a:ext cx="7955279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E8853D"/>
                </a:solidFill>
                <a:latin typeface="Arial"/>
              </a:defRPr>
            </a:pPr>
            <a:r>
              <a:t>Specific &gt; Vague. Always.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Arial"/>
              </a:defRPr>
            </a:pPr>
            <a:r>
              <a:t>PRPs — Implementation Blueprints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41148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5B9CF5"/>
                </a:solidFill>
                <a:latin typeface="Arial"/>
              </a:defRPr>
            </a:pPr>
            <a:r>
              <a:t>PRP = Product Requirements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9CA3B4"/>
                </a:solidFill>
                <a:latin typeface="Arial"/>
              </a:defRPr>
            </a:pPr>
            <a:r>
              <a:t>Like a PRD, but designed for AI coding assistants: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10515600" cy="73152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54864" cy="73152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2491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853D"/>
                </a:solidFill>
                <a:latin typeface="Arial"/>
              </a:defRPr>
            </a:pPr>
            <a:r>
              <a:t>Complete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724912"/>
            <a:ext cx="6583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Everything the AI needs to know, in one 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0439"/>
            <a:ext cx="10515600" cy="73152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520439"/>
            <a:ext cx="54864" cy="73152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93591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5B9CF5"/>
                </a:solidFill>
                <a:latin typeface="Arial"/>
              </a:defRPr>
            </a:pPr>
            <a:r>
              <a:t>Step-by-step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593591"/>
            <a:ext cx="6583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Ordered tasks with dependencies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89120"/>
            <a:ext cx="10515600" cy="73152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89120"/>
            <a:ext cx="54864" cy="73152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6227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56C495"/>
                </a:solidFill>
                <a:latin typeface="Arial"/>
              </a:defRPr>
            </a:pPr>
            <a:r>
              <a:t>Validation 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462272"/>
            <a:ext cx="6583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Tests and checks that must pass before moving 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57800"/>
            <a:ext cx="10515600" cy="73152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257800"/>
            <a:ext cx="54864" cy="73152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33095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853D"/>
                </a:solidFill>
                <a:latin typeface="Arial"/>
              </a:defRPr>
            </a:pPr>
            <a:r>
              <a:t>Error handling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330952"/>
            <a:ext cx="6583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What to do when things go wrong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943600"/>
            <a:ext cx="10515600" cy="64008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9893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E8853D"/>
                </a:solidFill>
                <a:latin typeface="Arial"/>
              </a:defRPr>
            </a:pPr>
            <a:r>
              <a:t>You write the WHAT. The PRP figures out the HOW.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Arial"/>
              </a:defRPr>
            </a:pPr>
            <a:r>
              <a:t>The PRP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27432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011680" cy="73152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45720" cy="73152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8853D"/>
                </a:solidFill>
                <a:latin typeface="Courier New"/>
              </a:defRPr>
            </a:pPr>
            <a:r>
              <a:t>INITIAL.md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9CA3B4"/>
                </a:solidFill>
                <a:latin typeface="Arial"/>
              </a:defRPr>
            </a:pPr>
            <a:r>
              <a:t>You write this</a:t>
            </a:r>
            <a:br/>
            <a:r>
              <a:t>(the WHAT)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645920"/>
            <a:ext cx="2011680" cy="73152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0" y="1645920"/>
            <a:ext cx="45720" cy="73152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173736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5B9CF5"/>
                </a:solidFill>
                <a:latin typeface="Courier New"/>
              </a:defRPr>
            </a:pPr>
            <a:r>
              <a:t>/generate-prp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645920"/>
            <a:ext cx="2011680" cy="73152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94960" y="1645920"/>
            <a:ext cx="45720" cy="73152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173736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56C495"/>
                </a:solidFill>
                <a:latin typeface="Courier New"/>
              </a:defRPr>
            </a:pPr>
            <a:r>
              <a:t>PRPs/meetup-comms.md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51460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9CA3B4"/>
                </a:solidFill>
                <a:latin typeface="Arial"/>
              </a:defRPr>
            </a:pPr>
            <a:r>
              <a:t>Claude builds this</a:t>
            </a:r>
            <a:br/>
            <a:r>
              <a:t>(the HOW)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645920"/>
            <a:ext cx="2011680" cy="73152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1645920"/>
            <a:ext cx="45720" cy="73152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73736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5B9CF5"/>
                </a:solidFill>
                <a:latin typeface="Courier New"/>
              </a:defRPr>
            </a:pPr>
            <a:r>
              <a:t>/execute-prp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0" y="1645920"/>
            <a:ext cx="2011680" cy="73152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41280" y="1645920"/>
            <a:ext cx="45720" cy="73152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78440" y="173736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8853D"/>
                </a:solidFill>
                <a:latin typeface="Courier New"/>
              </a:defRPr>
            </a:pPr>
            <a:r>
              <a:t>Working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1691640"/>
            <a:ext cx="457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E8853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1691640"/>
            <a:ext cx="457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E8853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1691640"/>
            <a:ext cx="457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E8853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691640"/>
            <a:ext cx="457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E8853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3832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E8ECF4"/>
                </a:solidFill>
                <a:latin typeface="Arial"/>
              </a:defRPr>
            </a:pPr>
            <a:r>
              <a:t>The workflow: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931920"/>
            <a:ext cx="10515600" cy="2743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E8853D"/>
                </a:solidFill>
                <a:latin typeface="Arial"/>
              </a:rPr>
              <a:t>1.  </a:t>
            </a:r>
            <a:r>
              <a:rPr sz="2000">
                <a:solidFill>
                  <a:srgbClr val="E8ECF4"/>
                </a:solidFill>
                <a:latin typeface="Arial"/>
              </a:rPr>
              <a:t>You describe the feature in INITIAL.md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5B9CF5"/>
                </a:solidFill>
                <a:latin typeface="Arial"/>
              </a:rPr>
              <a:t>2.  </a:t>
            </a:r>
            <a:r>
              <a:rPr sz="2000">
                <a:solidFill>
                  <a:srgbClr val="E8ECF4"/>
                </a:solidFill>
                <a:latin typeface="Arial"/>
              </a:rPr>
              <a:t>/generate-prp reads your codebase, analyzes patterns, generates a blueprint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56C495"/>
                </a:solidFill>
                <a:latin typeface="Arial"/>
              </a:rPr>
              <a:t>3.  </a:t>
            </a:r>
            <a:r>
              <a:rPr sz="2000">
                <a:solidFill>
                  <a:srgbClr val="E8ECF4"/>
                </a:solidFill>
                <a:latin typeface="Arial"/>
              </a:rPr>
              <a:t>You review the PRP (catch misunderstandings early!)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5B9CF5"/>
                </a:solidFill>
                <a:latin typeface="Arial"/>
              </a:rPr>
              <a:t>4.  </a:t>
            </a:r>
            <a:r>
              <a:rPr sz="2000">
                <a:solidFill>
                  <a:srgbClr val="E8ECF4"/>
                </a:solidFill>
                <a:latin typeface="Arial"/>
              </a:rPr>
              <a:t>/execute-prp follows the blueprint step by step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E8853D"/>
                </a:solidFill>
                <a:latin typeface="Arial"/>
              </a:rPr>
              <a:t>5.  </a:t>
            </a:r>
            <a:r>
              <a:rPr sz="2000">
                <a:solidFill>
                  <a:srgbClr val="E8ECF4"/>
                </a:solidFill>
                <a:latin typeface="Arial"/>
              </a:rPr>
              <a:t>Working, tested code comes 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8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0" b="1">
                <a:solidFill>
                  <a:srgbClr val="E8853D"/>
                </a:solidFill>
                <a:latin typeface="Arial"/>
              </a:defRPr>
            </a:pPr>
            <a: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4114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0" b="1">
                <a:solidFill>
                  <a:srgbClr val="E8853D"/>
                </a:solidFill>
                <a:latin typeface="Arial"/>
              </a:defRPr>
            </a:pPr>
            <a: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828800"/>
            <a:ext cx="5943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5B9CF5"/>
                </a:solidFill>
                <a:latin typeface="Courier New"/>
              </a:defRPr>
            </a:pPr>
            <a:r>
              <a:t>/generate-prp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3017520"/>
            <a:ext cx="5943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9CA3B4"/>
                </a:solidFill>
                <a:latin typeface="Arial"/>
              </a:defRPr>
            </a:pPr>
            <a:r>
              <a:t>Watch Claude analyze your codebase and</a:t>
            </a:r>
            <a:br/>
            <a:r>
              <a:t>generate a comprehensive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4114800"/>
            <a:ext cx="59436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Read the feature request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Analyze existing code patterns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Research from examples/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Generate comprehensive blueprint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8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0" b="1">
                <a:solidFill>
                  <a:srgbClr val="E8853D"/>
                </a:solidFill>
                <a:latin typeface="Arial"/>
              </a:defRPr>
            </a:pPr>
            <a: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4114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0" b="1">
                <a:solidFill>
                  <a:srgbClr val="E8853D"/>
                </a:solidFill>
                <a:latin typeface="Arial"/>
              </a:defRPr>
            </a:pPr>
            <a: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828800"/>
            <a:ext cx="5943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56C495"/>
                </a:solidFill>
                <a:latin typeface="Courier New"/>
              </a:defRPr>
            </a:pPr>
            <a:r>
              <a:t>/execute-prp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3017520"/>
            <a:ext cx="5943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9CA3B4"/>
                </a:solidFill>
                <a:latin typeface="Arial"/>
              </a:defRPr>
            </a:pPr>
            <a:r>
              <a:t>Watch Claude follow the blueprint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840480"/>
            <a:ext cx="59436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Read the full PRP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Create .claude/commands/build-schedule.md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Create .claude/commands/draft-announcement.md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Create .claude/commands/draft-speaker-outreach.md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Validate against the event plan schema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5760720"/>
            <a:ext cx="5760720" cy="64008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5833872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E8853D"/>
                </a:solidFill>
                <a:latin typeface="Arial"/>
              </a:defRPr>
            </a:pPr>
            <a:r>
              <a:t>Claude isn't guessing. It's following a blueprint.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Arial"/>
              </a:defRPr>
            </a:pPr>
            <a:r>
              <a:t>The Examples/ Folder Trick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347472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E8853D"/>
                </a:solidFill>
                <a:latin typeface="Arial"/>
              </a:defRPr>
            </a:pPr>
            <a:r>
              <a:t>More examples = dramatically better output.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6400800" cy="1828800"/>
          </a:xfrm>
          <a:prstGeom prst="round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267712"/>
            <a:ext cx="128016" cy="128016"/>
          </a:xfrm>
          <a:prstGeom prst="ellipse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" y="2267712"/>
            <a:ext cx="128016" cy="128016"/>
          </a:xfrm>
          <a:prstGeom prst="ellipse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0744" y="2267712"/>
            <a:ext cx="128016" cy="128016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5852160" cy="1280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defRPr sz="1800">
                <a:solidFill>
                  <a:srgbClr val="56C495"/>
                </a:solidFill>
                <a:latin typeface="Courier New"/>
              </a:defRPr>
            </a:pPr>
            <a:r>
              <a:t>examples/</a:t>
            </a:r>
          </a:p>
          <a:p>
            <a:pPr>
              <a:spcAft>
                <a:spcPts val="400"/>
              </a:spcAft>
              <a:defRPr sz="1800">
                <a:solidFill>
                  <a:srgbClr val="E8ECF4"/>
                </a:solidFill>
                <a:latin typeface="Courier New"/>
              </a:defRPr>
            </a:pPr>
            <a:r>
              <a:t>  sample-event-plan.json     "Make output look like this"</a:t>
            </a:r>
          </a:p>
          <a:p>
            <a:pPr>
              <a:spcAft>
                <a:spcPts val="400"/>
              </a:spcAft>
              <a:defRPr sz="1800">
                <a:solidFill>
                  <a:srgbClr val="E8ECF4"/>
                </a:solidFill>
                <a:latin typeface="Courier New"/>
              </a:defRPr>
            </a:pPr>
            <a:r>
              <a:t>  sample-announcement.md     "Match this tone and format"</a:t>
            </a:r>
          </a:p>
          <a:p>
            <a:pPr>
              <a:spcAft>
                <a:spcPts val="400"/>
              </a:spcAft>
              <a:defRPr sz="1800">
                <a:solidFill>
                  <a:srgbClr val="E8ECF4"/>
                </a:solidFill>
                <a:latin typeface="Courier New"/>
              </a:defRPr>
            </a:pPr>
            <a:r>
              <a:t>  sample-schedule.md         "Follow this structure"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103120"/>
            <a:ext cx="4114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9CA3B4"/>
                </a:solidFill>
                <a:latin typeface="Arial"/>
              </a:defRPr>
            </a:pPr>
            <a:r>
              <a:t>The AI pattern-matches</a:t>
            </a:r>
            <a:br/>
            <a:r>
              <a:t>against your examples: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017520"/>
            <a:ext cx="41148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400"/>
              </a:spcBef>
              <a:spcAft>
                <a:spcPts val="16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Want a specific JSON schema? Show a sample file.</a:t>
            </a:r>
          </a:p>
          <a:p>
            <a:pPr>
              <a:spcBef>
                <a:spcPts val="400"/>
              </a:spcBef>
              <a:spcAft>
                <a:spcPts val="16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Want a particular email tone? Include a real example.</a:t>
            </a:r>
          </a:p>
          <a:p>
            <a:pPr>
              <a:spcBef>
                <a:spcPts val="400"/>
              </a:spcBef>
              <a:spcAft>
                <a:spcPts val="16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Want consistent formatting? Provide a template.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29200"/>
            <a:ext cx="10515600" cy="73152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E8853D"/>
                </a:solidFill>
                <a:latin typeface="Arial"/>
              </a:defRPr>
            </a:pPr>
            <a:r>
              <a:t>Show it. Don't describe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Arial"/>
              </a:defRPr>
            </a:pPr>
            <a:r>
              <a:t>Composable Slash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36576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9CA3B4"/>
                </a:solidFill>
                <a:latin typeface="Arial"/>
              </a:defRPr>
            </a:pPr>
            <a:r>
              <a:t>Commands that feed into each other: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383280" cy="146304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383280" cy="4572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E8853D"/>
                </a:solidFill>
                <a:latin typeface="Courier New"/>
              </a:defRPr>
            </a:pPr>
            <a:r>
              <a:t>/plan-event "RAG pipelines"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603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CA3B4"/>
                </a:solidFill>
                <a:latin typeface="Courier New"/>
              </a:defRPr>
            </a:pPr>
            <a:r>
              <a:t>events/rag-pipelines.json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920240"/>
            <a:ext cx="3383280" cy="146304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920240"/>
            <a:ext cx="3383280" cy="4572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5B9CF5"/>
                </a:solidFill>
                <a:latin typeface="Courier New"/>
              </a:defRPr>
            </a:pPr>
            <a:r>
              <a:t>/build-schedule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146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5603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CA3B4"/>
                </a:solidFill>
                <a:latin typeface="Courier New"/>
              </a:defRPr>
            </a:pPr>
            <a:r>
              <a:t>schedules/rag-pipelines.md + .json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920240"/>
            <a:ext cx="3383280" cy="146304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920240"/>
            <a:ext cx="3383280" cy="4572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05740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56C495"/>
                </a:solidFill>
                <a:latin typeface="Courier New"/>
              </a:defRPr>
            </a:pPr>
            <a:r>
              <a:t>/draft-announcement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5146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5603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CA3B4"/>
                </a:solidFill>
                <a:latin typeface="Courier New"/>
              </a:defRPr>
            </a:pPr>
            <a:r>
              <a:t>comms/rag-pipelines-announcement.md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3774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E8853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3774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E8853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404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E8ECF4"/>
                </a:solidFill>
                <a:latin typeface="Arial"/>
              </a:defRPr>
            </a:pPr>
            <a:r>
              <a:t>This is why JSON schemas matter: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89120"/>
            <a:ext cx="10058400" cy="20116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400"/>
              </a:spcBef>
              <a:spcAft>
                <a:spcPts val="16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Predictable format = reliable piping</a:t>
            </a:r>
          </a:p>
          <a:p>
            <a:pPr>
              <a:spcBef>
                <a:spcPts val="400"/>
              </a:spcBef>
              <a:spcAft>
                <a:spcPts val="16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Schema in CLAUDE.md = every command knows the contract</a:t>
            </a:r>
          </a:p>
          <a:p>
            <a:pPr>
              <a:spcBef>
                <a:spcPts val="400"/>
              </a:spcBef>
              <a:spcAft>
                <a:spcPts val="16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Structured &gt; freeform for agent-to-agent communication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Arial"/>
              </a:defRPr>
            </a:pPr>
            <a:r>
              <a:t>$ARGUMENTS in Slash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41148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463040" cy="36576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F1219"/>
                </a:solidFill>
                <a:latin typeface="Arial"/>
              </a:defRPr>
            </a:pPr>
            <a:r>
              <a:t>MARKDOWN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515600" cy="3200400"/>
          </a:xfrm>
          <a:prstGeom prst="round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84831"/>
            <a:ext cx="128016" cy="128016"/>
          </a:xfrm>
          <a:prstGeom prst="ellipse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2084831"/>
            <a:ext cx="128016" cy="128016"/>
          </a:xfrm>
          <a:prstGeom prst="ellipse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2084831"/>
            <a:ext cx="128016" cy="128016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987552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  <a:defRPr sz="1800">
                <a:solidFill>
                  <a:srgbClr val="9CA3B4"/>
                </a:solidFill>
                <a:latin typeface="Courier New"/>
              </a:defRPr>
            </a:pPr>
            <a:r>
              <a:t># .claude/commands/build-schedule.md</a:t>
            </a:r>
          </a:p>
          <a:p>
            <a:pPr>
              <a:spcAft>
                <a:spcPts val="200"/>
              </a:spcAft>
              <a:defRPr sz="1800">
                <a:solidFill>
                  <a:srgbClr val="E8ECF4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E8853D"/>
                </a:solidFill>
                <a:latin typeface="Courier New"/>
              </a:defRPr>
            </a:pPr>
            <a:r>
              <a:t>Build a detailed schedule for the event plan at: $ARGUMENTS</a:t>
            </a:r>
          </a:p>
          <a:p>
            <a:pPr>
              <a:spcAft>
                <a:spcPts val="200"/>
              </a:spcAft>
              <a:defRPr sz="1800">
                <a:solidFill>
                  <a:srgbClr val="E8ECF4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9CA3B4"/>
                </a:solidFill>
                <a:latin typeface="Courier New"/>
              </a:defRPr>
            </a:pPr>
            <a:r>
              <a:t>## Steps:</a:t>
            </a:r>
          </a:p>
          <a:p>
            <a:pPr>
              <a:spcAft>
                <a:spcPts val="200"/>
              </a:spcAft>
              <a:defRPr sz="1800">
                <a:solidFill>
                  <a:srgbClr val="E8853D"/>
                </a:solidFill>
                <a:latin typeface="Courier New"/>
              </a:defRPr>
            </a:pPr>
            <a:r>
              <a:t>1. Read the event plan JSON at $ARGUMENTS</a:t>
            </a:r>
          </a:p>
          <a:p>
            <a:pPr>
              <a:spcAft>
                <a:spcPts val="200"/>
              </a:spcAft>
              <a:defRPr sz="1800">
                <a:solidFill>
                  <a:srgbClr val="E8ECF4"/>
                </a:solidFill>
                <a:latin typeface="Courier New"/>
              </a:defRPr>
            </a:pPr>
            <a:r>
              <a:t>2. Read data/speakers.json for speaker availability</a:t>
            </a:r>
          </a:p>
          <a:p>
            <a:pPr>
              <a:spcAft>
                <a:spcPts val="200"/>
              </a:spcAft>
              <a:defRPr sz="1800">
                <a:solidFill>
                  <a:srgbClr val="E8ECF4"/>
                </a:solidFill>
                <a:latin typeface="Courier New"/>
              </a:defRPr>
            </a:pPr>
            <a:r>
              <a:t>3. Fit talks into time slots respecting availability</a:t>
            </a:r>
          </a:p>
          <a:p>
            <a:pPr>
              <a:spcAft>
                <a:spcPts val="200"/>
              </a:spcAft>
              <a:defRPr sz="1800">
                <a:solidFill>
                  <a:srgbClr val="E8ECF4"/>
                </a:solidFill>
                <a:latin typeface="Courier New"/>
              </a:defRPr>
            </a:pPr>
            <a:r>
              <a:t>4. Add breaks every 90 minutes</a:t>
            </a:r>
          </a:p>
          <a:p>
            <a:pPr>
              <a:spcAft>
                <a:spcPts val="200"/>
              </a:spcAft>
              <a:defRPr sz="1800">
                <a:solidFill>
                  <a:srgbClr val="E8ECF4"/>
                </a:solidFill>
                <a:latin typeface="Courier New"/>
              </a:defRPr>
            </a:pPr>
            <a:r>
              <a:t>5. Output markdown table to schedules/ and JSON to schedules/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9CA3B4"/>
                </a:solidFill>
                <a:latin typeface="Arial"/>
              </a:defRPr>
            </a:pPr>
            <a:r>
              <a:t>Usage: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669280"/>
            <a:ext cx="6400800" cy="4572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687568"/>
            <a:ext cx="5943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5B9CF5"/>
                </a:solidFill>
                <a:latin typeface="Courier New"/>
              </a:defRPr>
            </a:pPr>
            <a:r>
              <a:t>/build-schedule events/rag-pipelines.json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CA3B4"/>
                </a:solidFill>
                <a:latin typeface="Arial"/>
              </a:defRPr>
            </a:pPr>
            <a:r>
              <a:t>$ARGUMENTS becomes events/rag-pipelines.json — making commands reusable across events.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E8ECF4"/>
                </a:solidFill>
                <a:latin typeface="Arial"/>
              </a:defRPr>
            </a:pPr>
            <a:r>
              <a:t>Tips &amp; Gotchas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0" y="1188720"/>
            <a:ext cx="36576" cy="50292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9CA3B4"/>
                </a:solidFill>
                <a:latin typeface="Arial"/>
              </a:defRPr>
            </a:pPr>
            <a:r>
              <a:t>Don't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5303520" cy="9144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45720" cy="914400"/>
          </a:xfrm>
          <a:prstGeom prst="rect">
            <a:avLst/>
          </a:prstGeom>
          <a:solidFill>
            <a:srgbClr val="9CA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9CA3B4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Skip INITIAL.md and go straight to coding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5303520" cy="9144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45720" cy="914400"/>
          </a:xfrm>
          <a:prstGeom prst="rect">
            <a:avLst/>
          </a:prstGeom>
          <a:solidFill>
            <a:srgbClr val="9CA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9CA3B4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3756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Write vague EXAMPLES sections — point to specific 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5303520" cy="9144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45720" cy="914400"/>
          </a:xfrm>
          <a:prstGeom prst="rect">
            <a:avLst/>
          </a:prstGeom>
          <a:solidFill>
            <a:srgbClr val="9CA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9CA3B4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2628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Expect perfection on the first PRP — iterate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280160"/>
            <a:ext cx="5303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56C495"/>
                </a:solidFill>
                <a:latin typeface="Arial"/>
              </a:defRPr>
            </a:pPr>
            <a:r>
              <a:t>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011680"/>
            <a:ext cx="5303520" cy="9144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011680"/>
            <a:ext cx="45720" cy="91440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488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56C495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1488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E8ECF4"/>
                </a:solidFill>
                <a:latin typeface="Arial"/>
              </a:defRPr>
            </a:pPr>
            <a:r>
              <a:t>Review the PRP before executing — catch misunderstandings early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200400"/>
            <a:ext cx="5303520" cy="9144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200400"/>
            <a:ext cx="45720" cy="91440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33756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56C495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33756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E8ECF4"/>
                </a:solidFill>
                <a:latin typeface="Arial"/>
              </a:defRPr>
            </a:pPr>
            <a:r>
              <a:t>Include OTHER CONSIDERATIONS — that’s where edge cases live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389120"/>
            <a:ext cx="5303520" cy="9144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4389120"/>
            <a:ext cx="45720" cy="91440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5262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56C495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52628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E8ECF4"/>
                </a:solidFill>
                <a:latin typeface="Arial"/>
              </a:defRPr>
            </a:pPr>
            <a:r>
              <a:t>Add more examples to improve output quality over 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669280"/>
            <a:ext cx="10332720" cy="73152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5760720"/>
            <a:ext cx="9784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E8853D"/>
                </a:solidFill>
                <a:latin typeface="Arial"/>
              </a:defRPr>
            </a:pPr>
            <a:r>
              <a:t>The biggest mistake: Skipping the review step. A bad PRP executed perfectly still gives you bad code.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0" y="457200"/>
            <a:ext cx="5790895" cy="5790895"/>
          </a:xfrm>
          <a:prstGeom prst="ellipse">
            <a:avLst/>
          </a:prstGeom>
          <a:solidFill>
            <a:srgbClr val="18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9CA3B4"/>
                </a:solidFill>
                <a:latin typeface="Arial"/>
              </a:defRPr>
            </a:pPr>
            <a:r>
              <a:t>EXERCISE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0" b="1">
                <a:solidFill>
                  <a:srgbClr val="E8853D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E8ECF4"/>
                </a:solidFill>
                <a:latin typeface="Arial"/>
              </a:defRPr>
            </a:pPr>
            <a:r>
              <a:t>Build the Comms &amp; Scheduling System via PRP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5394960"/>
            <a:ext cx="7619695" cy="54864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5440680"/>
            <a:ext cx="70710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5B9CF5"/>
                </a:solidFill>
                <a:latin typeface="Courier New"/>
              </a:defRPr>
            </a:pPr>
            <a:r>
              <a:t>/plan-event  --&gt;  /build-schedule  --&gt;  /draft-announcement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9CA3B4"/>
                </a:solidFill>
                <a:latin typeface="Arial"/>
              </a:defRPr>
            </a:pPr>
            <a:r>
              <a:t>~40 minutes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Arial"/>
              </a:defRPr>
            </a:pPr>
            <a:r>
              <a:t>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22860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9CA3B4"/>
                </a:solidFill>
                <a:latin typeface="Arial"/>
              </a:defRPr>
            </a:pPr>
            <a:r>
              <a:t>You should have: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20040" cy="32004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93392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E8ECF4"/>
                </a:solidFill>
                <a:latin typeface="Arial"/>
              </a:defRPr>
            </a:pPr>
            <a:r>
              <a:t>INITIAL.md with complete feature 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320040" cy="32004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87752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E8ECF4"/>
                </a:solidFill>
                <a:latin typeface="Arial"/>
              </a:defRPr>
            </a:pPr>
            <a:r>
              <a:t>Generated PRP in PRPs/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00400"/>
            <a:ext cx="320040" cy="32004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182112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E8ECF4"/>
                </a:solidFill>
                <a:latin typeface="Arial"/>
              </a:defRPr>
            </a:pPr>
            <a:r>
              <a:t>/build-schedule command working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94760"/>
            <a:ext cx="320040" cy="32004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776472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E8ECF4"/>
                </a:solidFill>
                <a:latin typeface="Arial"/>
              </a:defRPr>
            </a:pPr>
            <a:r>
              <a:t>/draft-announcement command working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89120"/>
            <a:ext cx="320040" cy="32004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370832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E8ECF4"/>
                </a:solidFill>
                <a:latin typeface="Arial"/>
              </a:defRPr>
            </a:pPr>
            <a:r>
              <a:t>/draft-speaker-outreach command working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83480"/>
            <a:ext cx="320040" cy="32004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965192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E8ECF4"/>
                </a:solidFill>
                <a:latin typeface="Arial"/>
              </a:defRPr>
            </a:pPr>
            <a:r>
              <a:t>All commands consuming JSON from previous steps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486400"/>
            <a:ext cx="10515600" cy="9144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8853D"/>
                </a:solidFill>
                <a:latin typeface="Arial"/>
              </a:defRPr>
            </a:pPr>
            <a:r>
              <a:t>QUICK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5216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5B9CF5"/>
                </a:solidFill>
                <a:latin typeface="Courier New"/>
              </a:defRPr>
            </a:pPr>
            <a:r>
              <a:t>/plan-event "Your Topic"  --&gt;  /build-schedule  --&gt;  /draft-announcement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Arial"/>
              </a:defRPr>
            </a:pPr>
            <a:r>
              <a:t>What’s Next — Session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32004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5B9CF5"/>
                </a:solidFill>
                <a:latin typeface="Arial"/>
              </a:defRPr>
            </a:pPr>
            <a:r>
              <a:t>Subagents &amp; Hooks: Specialists Beat Generalists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9CA3B4"/>
                </a:solidFill>
                <a:latin typeface="Arial"/>
              </a:defRPr>
            </a:pPr>
            <a:r>
              <a:t>Right now, one agent does everything. Next session: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515600" cy="9144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4864" cy="9144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E8853D"/>
                </a:solidFill>
                <a:latin typeface="Arial"/>
              </a:defRPr>
            </a:pPr>
            <a:r>
              <a:t>Subagents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2608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Split into specialists (schedule optimizer, comms reviewer, quality checker)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515600" cy="9144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931920"/>
            <a:ext cx="54864" cy="91440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59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5B9CF5"/>
                </a:solidFill>
                <a:latin typeface="Arial"/>
              </a:defRPr>
            </a:pPr>
            <a:r>
              <a:t>Hooks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023359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Automate quality checks that run on every command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29200"/>
            <a:ext cx="10515600" cy="9144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29200"/>
            <a:ext cx="54864" cy="91440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206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56C495"/>
                </a:solidFill>
                <a:latin typeface="Arial"/>
              </a:defRPr>
            </a:pPr>
            <a:r>
              <a:t>The Difference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12064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Arial"/>
              </a:defRPr>
            </a:pPr>
            <a:r>
              <a:t>One person doing everything vs. a team of experts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4360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E8853D"/>
                </a:solidFill>
                <a:latin typeface="Arial"/>
              </a:defRPr>
            </a:pPr>
            <a:r>
              <a:t>Your MeetupBot will go from a solo performer to a coordinated team.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E8ECF4"/>
                </a:solidFill>
                <a:latin typeface="Arial"/>
              </a:defRPr>
            </a:pPr>
            <a:r>
              <a:t>Session 2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9CA3B4"/>
                </a:solidFill>
                <a:latin typeface="Arial"/>
              </a:defRPr>
            </a:pPr>
            <a:r>
              <a:t>Three things to remember: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901952"/>
            <a:ext cx="3474720" cy="3200400"/>
          </a:xfrm>
          <a:prstGeom prst="round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32004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474720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2148840"/>
            <a:ext cx="548640" cy="548640"/>
          </a:xfrm>
          <a:prstGeom prst="ellipse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F121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853D"/>
                </a:solidFill>
                <a:latin typeface="Arial"/>
              </a:defRPr>
            </a:pPr>
            <a:r>
              <a:t>Context Engineering &gt; Prompt Engineering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017520"/>
            <a:ext cx="3017520" cy="1828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30175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CA3B4"/>
                </a:solidFill>
                <a:latin typeface="Arial"/>
              </a:defRPr>
            </a:pPr>
            <a:r>
              <a:t>Complete blueprints beat clever wording.</a:t>
            </a:r>
            <a:br/>
            <a:r>
              <a:t>Give the AI everything it needs.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359152"/>
            <a:ext cx="3474720" cy="3200400"/>
          </a:xfrm>
          <a:prstGeom prst="round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06240" y="2286000"/>
            <a:ext cx="3474720" cy="32004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2286000"/>
            <a:ext cx="347472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4840" y="2606040"/>
            <a:ext cx="548640" cy="548640"/>
          </a:xfrm>
          <a:prstGeom prst="ellipse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60604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F1219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65176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5B9CF5"/>
                </a:solidFill>
                <a:latin typeface="Arial"/>
              </a:defRPr>
            </a:pPr>
            <a:r>
              <a:t>INITIAL.md -&gt; PRP -&gt; Execute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3474720"/>
            <a:ext cx="3017520" cy="18288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749039"/>
            <a:ext cx="30175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CA3B4"/>
                </a:solidFill>
                <a:latin typeface="Arial"/>
              </a:defRPr>
            </a:pPr>
            <a:r>
              <a:t>Describe WHAT you want, generate HOW</a:t>
            </a:r>
            <a:br/>
            <a:r>
              <a:t>to build it, execute automatically.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1901952"/>
            <a:ext cx="3474720" cy="3200400"/>
          </a:xfrm>
          <a:prstGeom prst="round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79" y="1828800"/>
            <a:ext cx="3474720" cy="32004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1828800"/>
            <a:ext cx="3474720" cy="54864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83879" y="2148840"/>
            <a:ext cx="548640" cy="5486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214884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F1219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19456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56C495"/>
                </a:solidFill>
                <a:latin typeface="Arial"/>
              </a:defRPr>
            </a:pPr>
            <a:r>
              <a:t>Composable Commands via JSON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3017520"/>
            <a:ext cx="3017520" cy="18288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3291840"/>
            <a:ext cx="30175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CA3B4"/>
                </a:solidFill>
                <a:latin typeface="Arial"/>
              </a:defRPr>
            </a:pPr>
            <a:r>
              <a:t>JSON schemas enable data flow between</a:t>
            </a:r>
            <a:br/>
            <a:r>
              <a:t>agent capabilities. Structure scales.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760720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E8853D"/>
                </a:solidFill>
                <a:latin typeface="Arial"/>
              </a:defRPr>
            </a:pPr>
            <a:r>
              <a:t>"The best prompt is no prompt — it's a system."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