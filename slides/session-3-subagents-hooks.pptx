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937760" y="1280160"/>
            <a:ext cx="2286000" cy="45720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37760" y="1298448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E8853D"/>
                </a:solidFill>
                <a:latin typeface="Arial"/>
              </a:defRPr>
            </a:pPr>
            <a:r>
              <a:t>SESSION 3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5200" b="1">
                <a:solidFill>
                  <a:srgbClr val="E8ECF4"/>
                </a:solidFill>
                <a:latin typeface="Arial"/>
              </a:defRPr>
            </a:pPr>
            <a:r>
              <a:t>Building AI Agents with 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00400"/>
            <a:ext cx="12191695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0">
                <a:solidFill>
                  <a:srgbClr val="5B9CF5"/>
                </a:solidFill>
                <a:latin typeface="Arial"/>
              </a:defRPr>
            </a:pPr>
            <a:r>
              <a:t>Session 3: Subagents &amp; Hooks -- Specialists Beat Generalists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0">
                <a:solidFill>
                  <a:srgbClr val="9CA3B4"/>
                </a:solidFill>
                <a:latin typeface="Arial"/>
              </a:defRPr>
            </a:pPr>
            <a:r>
              <a:t>"One agent doing everything = mediocre at everything"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760720"/>
            <a:ext cx="1219169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0">
                <a:solidFill>
                  <a:srgbClr val="9CA3B4"/>
                </a:solidFill>
                <a:latin typeface="Arial"/>
              </a:defRPr>
            </a:pPr>
            <a:r>
              <a:t>Tucson Claude Code Meetup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126480"/>
            <a:ext cx="1219169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9CA3B4"/>
                </a:solidFill>
                <a:latin typeface="Arial"/>
              </a:defRPr>
            </a:pPr>
            <a: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E8ECF4"/>
                </a:solidFill>
                <a:latin typeface="Arial"/>
              </a:defRPr>
            </a:pPr>
            <a:r>
              <a:t>Recap -- Where We 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3200400" cy="36576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0">
                <a:solidFill>
                  <a:srgbClr val="9CA3B4"/>
                </a:solidFill>
                <a:latin typeface="Arial"/>
              </a:defRPr>
            </a:pPr>
            <a:r>
              <a:t>Last session we built composable slash commands: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304288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5B9CF5"/>
                </a:solidFill>
                <a:latin typeface="Courier New"/>
              </a:defRPr>
            </a:pPr>
            <a:r>
              <a:t>/plan-event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19456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0">
                <a:solidFill>
                  <a:srgbClr val="9CA3B4"/>
                </a:solidFill>
                <a:latin typeface="Arial"/>
              </a:defRPr>
            </a:pPr>
            <a:r>
              <a:t>-- structured event planning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807208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5B9CF5"/>
                </a:solidFill>
                <a:latin typeface="Courier New"/>
              </a:defRPr>
            </a:pPr>
            <a:r>
              <a:t>/build-schedule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69748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0">
                <a:solidFill>
                  <a:srgbClr val="9CA3B4"/>
                </a:solidFill>
                <a:latin typeface="Arial"/>
              </a:defRPr>
            </a:pPr>
            <a:r>
              <a:t>-- time-slot optimization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310128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20040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5B9CF5"/>
                </a:solidFill>
                <a:latin typeface="Courier New"/>
              </a:defRPr>
            </a:pPr>
            <a:r>
              <a:t>/draft-announcement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20040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0">
                <a:solidFill>
                  <a:srgbClr val="9CA3B4"/>
                </a:solidFill>
                <a:latin typeface="Arial"/>
              </a:defRPr>
            </a:pPr>
            <a:r>
              <a:t>-- community comms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13048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70332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5B9CF5"/>
                </a:solidFill>
                <a:latin typeface="Courier New"/>
              </a:defRPr>
            </a:pPr>
            <a:r>
              <a:t>/draft-speaker-outreach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70332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0">
                <a:solidFill>
                  <a:srgbClr val="9CA3B4"/>
                </a:solidFill>
                <a:latin typeface="Arial"/>
              </a:defRPr>
            </a:pPr>
            <a:r>
              <a:t>-- personalized emails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480559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0">
                <a:solidFill>
                  <a:srgbClr val="E8ECF4"/>
                </a:solidFill>
                <a:latin typeface="Arial"/>
              </a:defRPr>
            </a:pPr>
            <a:r>
              <a:t>All composable via JSON contracts between commands.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212079"/>
            <a:ext cx="10972800" cy="64008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257800"/>
            <a:ext cx="109728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E8853D"/>
                </a:solidFill>
                <a:latin typeface="Arial"/>
              </a:defRPr>
            </a:pPr>
            <a:r>
              <a:t>Today: break the monolith.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E8ECF4"/>
                </a:solidFill>
                <a:latin typeface="Arial"/>
              </a:defRPr>
            </a:pPr>
            <a:r>
              <a:t>Today's Goal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286000" cy="36576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0">
                <a:solidFill>
                  <a:srgbClr val="E8ECF4"/>
                </a:solidFill>
                <a:latin typeface="Arial"/>
              </a:defRPr>
            </a:pPr>
            <a:r>
              <a:t>Build specialist subagents + automated review hooks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10515600" cy="502920"/>
          </a:xfrm>
          <a:prstGeom prst="round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50008"/>
            <a:ext cx="3657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0F1219"/>
                </a:solidFill>
                <a:latin typeface="Arial"/>
              </a:defRPr>
            </a:pPr>
            <a:r>
              <a:t>Topic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2350008"/>
            <a:ext cx="5486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0F1219"/>
                </a:solidFill>
                <a:latin typeface="Arial"/>
              </a:defRPr>
            </a:pPr>
            <a:r>
              <a:t>Why It Matters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880360"/>
            <a:ext cx="10515600" cy="50292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44368"/>
            <a:ext cx="3657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E8853D"/>
                </a:solidFill>
                <a:latin typeface="Arial"/>
              </a:defRPr>
            </a:pPr>
            <a:r>
              <a:t>Why monoliths fail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944368"/>
            <a:ext cx="5486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9CA3B4"/>
                </a:solidFill>
                <a:latin typeface="Arial"/>
              </a:defRPr>
            </a:pPr>
            <a:r>
              <a:t>Context overload kills quality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29000"/>
            <a:ext cx="10515600" cy="502920"/>
          </a:xfrm>
          <a:prstGeom prst="round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493008"/>
            <a:ext cx="3657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E8853D"/>
                </a:solidFill>
                <a:latin typeface="Arial"/>
              </a:defRPr>
            </a:pPr>
            <a:r>
              <a:t>Subagents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3493008"/>
            <a:ext cx="5486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9CA3B4"/>
                </a:solidFill>
                <a:latin typeface="Arial"/>
              </a:defRPr>
            </a:pPr>
            <a:r>
              <a:t>Isolated specialists, one job each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77639"/>
            <a:ext cx="10515600" cy="50292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041648"/>
            <a:ext cx="3657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E8853D"/>
                </a:solidFill>
                <a:latin typeface="Arial"/>
              </a:defRPr>
            </a:pPr>
            <a:r>
              <a:t>Hooks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4041648"/>
            <a:ext cx="5486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9CA3B4"/>
                </a:solidFill>
                <a:latin typeface="Arial"/>
              </a:defRPr>
            </a:pPr>
            <a:r>
              <a:t>Lifecycle automation, quality gates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526279"/>
            <a:ext cx="10515600" cy="502920"/>
          </a:xfrm>
          <a:prstGeom prst="round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590288"/>
            <a:ext cx="3657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E8853D"/>
                </a:solidFill>
                <a:latin typeface="Arial"/>
              </a:defRPr>
            </a:pPr>
            <a:r>
              <a:t>Model routing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4590288"/>
            <a:ext cx="5486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9CA3B4"/>
                </a:solidFill>
                <a:latin typeface="Arial"/>
              </a:defRPr>
            </a:pPr>
            <a:r>
              <a:t>Right model for the right task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8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32004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0" b="1">
                <a:solidFill>
                  <a:srgbClr val="E8853D"/>
                </a:solidFill>
                <a:latin typeface="Arial"/>
              </a:defRPr>
            </a:pPr>
            <a:r>
              <a:t>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32004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0" b="1">
                <a:solidFill>
                  <a:srgbClr val="E8853D"/>
                </a:solidFill>
                <a:latin typeface="Arial"/>
              </a:defRPr>
            </a:pPr>
            <a:r>
              <a:t>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457200"/>
            <a:ext cx="73152" cy="59436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0" y="2286000"/>
            <a:ext cx="6858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400" b="1">
                <a:solidFill>
                  <a:srgbClr val="E8ECF4"/>
                </a:solidFill>
                <a:latin typeface="Arial"/>
              </a:defRPr>
            </a:pPr>
            <a:r>
              <a:t>The Monolith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3474720"/>
            <a:ext cx="6858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0">
                <a:solidFill>
                  <a:srgbClr val="9CA3B4"/>
                </a:solidFill>
                <a:latin typeface="Arial"/>
              </a:defRPr>
            </a:pPr>
            <a:r>
              <a:t>One prompt to rule them all...</a:t>
            </a:r>
            <a:br/>
            <a:r>
              <a:t>Watch what happens to quality.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4572000"/>
            <a:ext cx="6583680" cy="1097280"/>
          </a:xfrm>
          <a:prstGeom prst="round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4663440"/>
            <a:ext cx="621792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9CA3B4"/>
                </a:solidFill>
                <a:latin typeface="Courier New"/>
              </a:defRPr>
            </a:pPr>
            <a:r>
              <a:t>Optimize the schedule, rewrite the</a:t>
            </a:r>
            <a:br/>
            <a:r>
              <a:t>announcement, review emails, suggest</a:t>
            </a:r>
            <a:br/>
            <a:r>
              <a:t>venue layout -- all at once.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E8ECF4"/>
                </a:solidFill>
                <a:latin typeface="Arial"/>
              </a:defRPr>
            </a:pPr>
            <a:r>
              <a:t>Why Monolithic Fails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926080" cy="36576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10515600" cy="91440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48640" cy="548640"/>
          </a:xfrm>
          <a:prstGeom prst="round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55648"/>
            <a:ext cx="5486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0F1219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45920"/>
            <a:ext cx="3657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E8ECF4"/>
                </a:solidFill>
                <a:latin typeface="Arial"/>
              </a:defRPr>
            </a:pPr>
            <a:r>
              <a:t>Context overload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029967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9CA3B4"/>
                </a:solidFill>
                <a:latin typeface="Arial"/>
              </a:defRPr>
            </a:pPr>
            <a:r>
              <a:t>Agent juggles too many concerns, drops details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06039"/>
            <a:ext cx="10515600" cy="91440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2788920"/>
            <a:ext cx="548640" cy="548640"/>
          </a:xfrm>
          <a:prstGeom prst="round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807208"/>
            <a:ext cx="5486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0F1219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697479"/>
            <a:ext cx="3657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E8ECF4"/>
                </a:solidFill>
                <a:latin typeface="Arial"/>
              </a:defRPr>
            </a:pPr>
            <a:r>
              <a:t>No specialization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081527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9CA3B4"/>
                </a:solidFill>
                <a:latin typeface="Arial"/>
              </a:defRPr>
            </a:pPr>
            <a:r>
              <a:t>Generic output for every task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57599"/>
            <a:ext cx="10515600" cy="91440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3840479"/>
            <a:ext cx="548640" cy="548640"/>
          </a:xfrm>
          <a:prstGeom prst="round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858768"/>
            <a:ext cx="5486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0F1219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749039"/>
            <a:ext cx="3657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E8ECF4"/>
                </a:solidFill>
                <a:latin typeface="Arial"/>
              </a:defRPr>
            </a:pPr>
            <a:r>
              <a:t>No quality gates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133087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9CA3B4"/>
                </a:solidFill>
                <a:latin typeface="Arial"/>
              </a:defRPr>
            </a:pPr>
            <a:r>
              <a:t>No review step, errors pass through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709159"/>
            <a:ext cx="10515600" cy="91440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1520" y="4892040"/>
            <a:ext cx="548640" cy="548640"/>
          </a:xfrm>
          <a:prstGeom prst="round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910327"/>
            <a:ext cx="5486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0F1219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4800599"/>
            <a:ext cx="3657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E8ECF4"/>
                </a:solidFill>
                <a:latin typeface="Arial"/>
              </a:defRPr>
            </a:pPr>
            <a:r>
              <a:t>Can't parallelize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5184648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9CA3B4"/>
                </a:solidFill>
                <a:latin typeface="Arial"/>
              </a:defRPr>
            </a:pPr>
            <a:r>
              <a:t>Sequential bottleneck, one massive prompt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035039"/>
            <a:ext cx="10515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1">
                <a:solidFill>
                  <a:srgbClr val="E8853D"/>
                </a:solidFill>
                <a:latin typeface="Arial"/>
              </a:defRPr>
            </a:pPr>
            <a:r>
              <a:t>The agent isn't bad -- it's stretched too thin.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E8ECF4"/>
                </a:solidFill>
                <a:latin typeface="Arial"/>
              </a:defRPr>
            </a:pPr>
            <a:r>
              <a:t>Subagents -- The Fix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926080" cy="36576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0" y="1554480"/>
            <a:ext cx="3931920" cy="822960"/>
          </a:xfrm>
          <a:prstGeom prst="round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0" y="1554480"/>
            <a:ext cx="393192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0" y="1645920"/>
            <a:ext cx="39319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E8ECF4"/>
                </a:solidFill>
                <a:latin typeface="Arial"/>
              </a:defRPr>
            </a:pPr>
            <a:r>
              <a:t>Main Agent (orchestrator)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0" y="2377440"/>
            <a:ext cx="36576" cy="548640"/>
          </a:xfrm>
          <a:prstGeom prst="rect">
            <a:avLst/>
          </a:prstGeom>
          <a:solidFill>
            <a:srgbClr val="9CA3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103120" y="2926080"/>
            <a:ext cx="7955279" cy="36576"/>
          </a:xfrm>
          <a:prstGeom prst="rect">
            <a:avLst/>
          </a:prstGeom>
          <a:solidFill>
            <a:srgbClr val="9CA3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0" y="2926080"/>
            <a:ext cx="36576" cy="457200"/>
          </a:xfrm>
          <a:prstGeom prst="rect">
            <a:avLst/>
          </a:prstGeom>
          <a:solidFill>
            <a:srgbClr val="9CA3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0" y="2926080"/>
            <a:ext cx="36576" cy="457200"/>
          </a:xfrm>
          <a:prstGeom prst="rect">
            <a:avLst/>
          </a:prstGeom>
          <a:solidFill>
            <a:srgbClr val="9CA3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601200" y="2926080"/>
            <a:ext cx="36576" cy="457200"/>
          </a:xfrm>
          <a:prstGeom prst="rect">
            <a:avLst/>
          </a:prstGeom>
          <a:solidFill>
            <a:srgbClr val="9CA3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97280" y="3383280"/>
            <a:ext cx="3200400" cy="137160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" y="3383280"/>
            <a:ext cx="3200400" cy="54864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520440"/>
            <a:ext cx="3200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E8ECF4"/>
                </a:solidFill>
                <a:latin typeface="Courier New"/>
              </a:defRPr>
            </a:pPr>
            <a:r>
              <a:t>schedule-</a:t>
            </a:r>
            <a:br/>
            <a:r>
              <a:t>optimizer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3891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9CA3B4"/>
                </a:solidFill>
                <a:latin typeface="Arial"/>
              </a:defRPr>
            </a:pPr>
            <a:r>
              <a:t>Own 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645152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9CA3B4"/>
                </a:solidFill>
                <a:latin typeface="Arial"/>
              </a:defRPr>
            </a:pPr>
            <a:r>
              <a:t>Limited tools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901184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9CA3B4"/>
                </a:solidFill>
                <a:latin typeface="Arial"/>
              </a:defRPr>
            </a:pPr>
            <a:r>
              <a:t>One-shot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3383280"/>
            <a:ext cx="3200400" cy="137160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0" y="3383280"/>
            <a:ext cx="32004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3520440"/>
            <a:ext cx="3200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E8ECF4"/>
                </a:solidFill>
                <a:latin typeface="Courier New"/>
              </a:defRPr>
            </a:pPr>
            <a:r>
              <a:t>comms-</a:t>
            </a:r>
            <a:br/>
            <a:r>
              <a:t>reviewer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43891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9CA3B4"/>
                </a:solidFill>
                <a:latin typeface="Arial"/>
              </a:defRPr>
            </a:pPr>
            <a:r>
              <a:t>Own context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4645152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9CA3B4"/>
                </a:solidFill>
                <a:latin typeface="Arial"/>
              </a:defRPr>
            </a:pPr>
            <a:r>
              <a:t>Limited 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4901184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9CA3B4"/>
                </a:solidFill>
                <a:latin typeface="Arial"/>
              </a:defRPr>
            </a:pPr>
            <a:r>
              <a:t>One-shot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3383280"/>
            <a:ext cx="3200400" cy="137160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38160" y="3383280"/>
            <a:ext cx="3200400" cy="54864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3520440"/>
            <a:ext cx="3200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E8ECF4"/>
                </a:solidFill>
                <a:latin typeface="Courier New"/>
              </a:defRPr>
            </a:pPr>
            <a:r>
              <a:t>speaker-</a:t>
            </a:r>
            <a:br/>
            <a:r>
              <a:t>matcher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3891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9CA3B4"/>
                </a:solidFill>
                <a:latin typeface="Arial"/>
              </a:defRPr>
            </a:pPr>
            <a:r>
              <a:t>Own context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645152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9CA3B4"/>
                </a:solidFill>
                <a:latin typeface="Arial"/>
              </a:defRPr>
            </a:pPr>
            <a:r>
              <a:t>Limited tools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4901184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9CA3B4"/>
                </a:solidFill>
                <a:latin typeface="Arial"/>
              </a:defRPr>
            </a:pPr>
            <a:r>
              <a:t>One-shot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1">
                <a:solidFill>
                  <a:srgbClr val="E8853D"/>
                </a:solidFill>
                <a:latin typeface="Arial"/>
              </a:defRPr>
            </a:pPr>
            <a:r>
              <a:t>Each subagent: isolated context, focused job, auto-invocable.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43200" y="5943600"/>
            <a:ext cx="6675120" cy="457200"/>
          </a:xfrm>
          <a:prstGeom prst="round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0" y="5971032"/>
            <a:ext cx="66751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0">
                <a:solidFill>
                  <a:srgbClr val="5B9CF5"/>
                </a:solidFill>
                <a:latin typeface="Courier New"/>
              </a:defRPr>
            </a:pPr>
            <a:r>
              <a:t>.claude/agents/&lt;name&gt;.md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E8ECF4"/>
                </a:solidFill>
                <a:latin typeface="Arial"/>
              </a:defRPr>
            </a:pPr>
            <a:r>
              <a:t>Anatomy of a Subagent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0" y="320040"/>
            <a:ext cx="2011680" cy="411480"/>
          </a:xfrm>
          <a:prstGeom prst="round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0" y="338328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0F1219"/>
                </a:solidFill>
                <a:latin typeface="Arial"/>
              </a:defRPr>
            </a:pPr>
            <a:r>
              <a:t>MARKDOWN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9CA3B4"/>
                </a:solidFill>
                <a:latin typeface="Courier New"/>
              </a:defRPr>
            </a:pPr>
            <a:r>
              <a:t>.claude/agents/schedule-optimizer.md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11430000" cy="4846320"/>
          </a:xfrm>
          <a:prstGeom prst="round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94360" y="1508760"/>
            <a:ext cx="146304" cy="146304"/>
          </a:xfrm>
          <a:prstGeom prst="ellipse">
            <a:avLst/>
          </a:prstGeom>
          <a:solidFill>
            <a:srgbClr val="E85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68680" y="1508760"/>
            <a:ext cx="146304" cy="146304"/>
          </a:xfrm>
          <a:prstGeom prst="ellipse">
            <a:avLst/>
          </a:prstGeom>
          <a:solidFill>
            <a:srgbClr val="F5B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3000" y="1508760"/>
            <a:ext cx="146304" cy="146304"/>
          </a:xfrm>
          <a:prstGeom prst="ellipse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828800"/>
            <a:ext cx="10789920" cy="4297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56C495"/>
                </a:solidFill>
                <a:latin typeface="Courier New"/>
              </a:defRPr>
            </a:pPr>
            <a:r>
              <a:t>---</a:t>
            </a:r>
            <a:br/>
            <a:r>
              <a:t>name: schedule-optimizer</a:t>
            </a:r>
            <a:br/>
            <a:r>
              <a:t>description: Proactively analyzes event</a:t>
            </a:r>
            <a:br/>
            <a:r>
              <a:t>  schedules for conflicts, optimizes time</a:t>
            </a:r>
            <a:br/>
            <a:r>
              <a:t>  slots, and balances topic distribution.</a:t>
            </a:r>
            <a:br/>
            <a:r>
              <a:t>tools: Read, Grep, Glob</a:t>
            </a:r>
            <a:br/>
            <a:r>
              <a:t>---</a:t>
            </a:r>
            <a:br/>
            <a:br/>
            <a:r>
              <a:t># Schedule Optimizer Agent</a:t>
            </a:r>
            <a:br/>
            <a:br/>
            <a:r>
              <a:t>## Instructions</a:t>
            </a:r>
            <a:br/>
            <a:r>
              <a:t>You are a schedule optimization specialist.</a:t>
            </a:r>
            <a:br/>
            <a:r>
              <a:t>Analyze the provided schedule for conflicts,</a:t>
            </a:r>
            <a:br/>
            <a:r>
              <a:t>gaps, and topic clustering issues.</a:t>
            </a:r>
            <a:br/>
            <a:br/>
            <a:r>
              <a:t>## Output Format</a:t>
            </a:r>
            <a:br/>
            <a:r>
              <a:t>Return a JSON object with:</a:t>
            </a:r>
            <a:br/>
            <a:r>
              <a:t>- conflicts: array of detected conflicts</a:t>
            </a:r>
            <a:br/>
            <a:r>
              <a:t>- suggestions: array of optimizations</a:t>
            </a:r>
            <a:br/>
            <a:r>
              <a:t>- optimized_schedule: the improved schedule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75120"/>
            <a:ext cx="12191695" cy="4572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E8ECF4"/>
                </a:solidFill>
                <a:latin typeface="Arial"/>
              </a:defRPr>
            </a:pPr>
            <a:r>
              <a:t>Key Subagent Concepts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3200400" cy="36576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0515600" cy="77724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4864" cy="77724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E8853D"/>
                </a:solidFill>
                <a:latin typeface="Arial"/>
              </a:defRPr>
            </a:pPr>
            <a:r>
              <a:t>Own context window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74520"/>
            <a:ext cx="9601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9CA3B4"/>
                </a:solidFill>
                <a:latin typeface="Arial"/>
              </a:defRPr>
            </a:pPr>
            <a:r>
              <a:t>Fresh context, no bleed from parent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77440"/>
            <a:ext cx="10515600" cy="77724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377440"/>
            <a:ext cx="54864" cy="77724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450592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E8853D"/>
                </a:solidFill>
                <a:latin typeface="Arial"/>
              </a:defRPr>
            </a:pPr>
            <a:r>
              <a:t>Limited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88920"/>
            <a:ext cx="9601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9CA3B4"/>
                </a:solidFill>
                <a:latin typeface="Arial"/>
              </a:defRPr>
            </a:pPr>
            <a:r>
              <a:t>Only what it needs -- Read, Grep, Glob, not Write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291840"/>
            <a:ext cx="10515600" cy="77724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291840"/>
            <a:ext cx="54864" cy="77724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364992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E8853D"/>
                </a:solidFill>
                <a:latin typeface="Arial"/>
              </a:defRPr>
            </a:pPr>
            <a:r>
              <a:t>"Proactively" keyword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703320"/>
            <a:ext cx="9601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9CA3B4"/>
                </a:solidFill>
                <a:latin typeface="Arial"/>
              </a:defRPr>
            </a:pPr>
            <a:r>
              <a:t>In description: tells Claude to auto-invoke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206240"/>
            <a:ext cx="10515600" cy="77724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206240"/>
            <a:ext cx="54864" cy="77724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279392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E8853D"/>
                </a:solidFill>
                <a:latin typeface="Arial"/>
              </a:defRPr>
            </a:pPr>
            <a:r>
              <a:t>One-shot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617720"/>
            <a:ext cx="9601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9CA3B4"/>
                </a:solidFill>
                <a:latin typeface="Arial"/>
              </a:defRPr>
            </a:pPr>
            <a:r>
              <a:t>Does its job, returns result, exits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120640"/>
            <a:ext cx="10515600" cy="77724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5120640"/>
            <a:ext cx="54864" cy="77724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93792"/>
            <a:ext cx="4114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E8853D"/>
                </a:solidFill>
                <a:latin typeface="Arial"/>
              </a:defRPr>
            </a:pPr>
            <a:r>
              <a:t>Structured 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532120"/>
            <a:ext cx="9601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9CA3B4"/>
                </a:solidFill>
                <a:latin typeface="Arial"/>
              </a:defRPr>
            </a:pPr>
            <a:r>
              <a:t>JSON contract for reliable handoff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71600" y="6309359"/>
            <a:ext cx="9418320" cy="640080"/>
          </a:xfrm>
          <a:prstGeom prst="round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0" y="6355079"/>
            <a:ext cx="94183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900" b="1">
                <a:solidFill>
                  <a:srgbClr val="5B9CF5"/>
                </a:solidFill>
                <a:latin typeface="Arial"/>
              </a:defRPr>
            </a:pPr>
            <a:r>
              <a:t>The word "Proactively" = Claude will invoke this agent without being asked.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8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32004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0" b="1">
                <a:solidFill>
                  <a:srgbClr val="E8853D"/>
                </a:solidFill>
                <a:latin typeface="Arial"/>
              </a:defRPr>
            </a:pPr>
            <a:r>
              <a:t>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32004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0" b="1">
                <a:solidFill>
                  <a:srgbClr val="E8853D"/>
                </a:solidFill>
                <a:latin typeface="Arial"/>
              </a:defRPr>
            </a:pPr>
            <a:r>
              <a:t>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457200"/>
            <a:ext cx="73152" cy="59436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0" y="2011680"/>
            <a:ext cx="6858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400" b="1">
                <a:solidFill>
                  <a:srgbClr val="E8ECF4"/>
                </a:solidFill>
                <a:latin typeface="Arial"/>
              </a:defRPr>
            </a:pPr>
            <a:r>
              <a:t>Schedule Optimizer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3017520"/>
            <a:ext cx="6858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5B9CF5"/>
                </a:solidFill>
                <a:latin typeface="Arial"/>
              </a:defRPr>
            </a:pPr>
            <a:r>
              <a:t>Build it. Test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840480"/>
            <a:ext cx="6858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0">
                <a:solidFill>
                  <a:srgbClr val="9CA3B4"/>
                </a:solidFill>
                <a:latin typeface="Arial"/>
              </a:defRPr>
            </a:pPr>
            <a:r>
              <a:t>What to watch for:</a:t>
            </a:r>
          </a:p>
        </p:txBody>
      </p:sp>
      <p:sp>
        <p:nvSpPr>
          <p:cNvPr id="9" name="Rectangle 8"/>
          <p:cNvSpPr/>
          <p:nvPr/>
        </p:nvSpPr>
        <p:spPr>
          <a:xfrm>
            <a:off x="4937760" y="4480559"/>
            <a:ext cx="109728" cy="109728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4389120"/>
            <a:ext cx="5486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E8ECF4"/>
                </a:solidFill>
                <a:latin typeface="Arial"/>
              </a:defRPr>
            </a:pPr>
            <a:r>
              <a:t>Specific conflict detection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4892040"/>
            <a:ext cx="109728" cy="109728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0" y="4800600"/>
            <a:ext cx="5486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E8ECF4"/>
                </a:solidFill>
                <a:latin typeface="Arial"/>
              </a:defRPr>
            </a:pPr>
            <a:r>
              <a:t>Concrete time-slot suggestions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5303520"/>
            <a:ext cx="109728" cy="109728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0" y="5212080"/>
            <a:ext cx="5486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E8ECF4"/>
                </a:solidFill>
                <a:latin typeface="Arial"/>
              </a:defRPr>
            </a:pPr>
            <a:r>
              <a:t>Structured, actionable output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E8ECF4"/>
                </a:solidFill>
                <a:latin typeface="Arial"/>
              </a:defRPr>
            </a:pPr>
            <a:r>
              <a:t>Comms Reviewer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560320" cy="36576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9CA3B4"/>
                </a:solidFill>
                <a:latin typeface="Courier New"/>
              </a:defRPr>
            </a:pPr>
            <a:r>
              <a:t>.claude/agents/comms-reviewer.md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0">
                <a:solidFill>
                  <a:srgbClr val="E8ECF4"/>
                </a:solidFill>
                <a:latin typeface="Arial"/>
              </a:defRPr>
            </a:pPr>
            <a:r>
              <a:t>Scores communications 1-10 on: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10515600" cy="502920"/>
          </a:xfrm>
          <a:prstGeom prst="round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41448"/>
            <a:ext cx="3657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0F1219"/>
                </a:solidFill>
                <a:latin typeface="Arial"/>
              </a:defRPr>
            </a:pPr>
            <a:r>
              <a:t>Criteria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441448"/>
            <a:ext cx="5943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0F1219"/>
                </a:solidFill>
                <a:latin typeface="Arial"/>
              </a:defRPr>
            </a:pPr>
            <a:r>
              <a:t>What It Checks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71800"/>
            <a:ext cx="10515600" cy="50292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035808"/>
            <a:ext cx="3657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E8853D"/>
                </a:solidFill>
                <a:latin typeface="Arial"/>
              </a:defRPr>
            </a:pPr>
            <a:r>
              <a:t>Completeness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035808"/>
            <a:ext cx="5943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9CA3B4"/>
                </a:solidFill>
                <a:latin typeface="Arial"/>
              </a:defRPr>
            </a:pPr>
            <a:r>
              <a:t>Date, time, location, RSVP link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520440"/>
            <a:ext cx="10515600" cy="502920"/>
          </a:xfrm>
          <a:prstGeom prst="round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584448"/>
            <a:ext cx="3657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E8853D"/>
                </a:solidFill>
                <a:latin typeface="Arial"/>
              </a:defRPr>
            </a:pPr>
            <a:r>
              <a:t>Tone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584448"/>
            <a:ext cx="5943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9CA3B4"/>
                </a:solidFill>
                <a:latin typeface="Arial"/>
              </a:defRPr>
            </a:pPr>
            <a:r>
              <a:t>Welcoming, professional, on-brand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69080"/>
            <a:ext cx="10515600" cy="50292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133088"/>
            <a:ext cx="3657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E8853D"/>
                </a:solidFill>
                <a:latin typeface="Arial"/>
              </a:defRPr>
            </a:pPr>
            <a:r>
              <a:t>Clarity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133088"/>
            <a:ext cx="5943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9CA3B4"/>
                </a:solidFill>
                <a:latin typeface="Arial"/>
              </a:defRPr>
            </a:pPr>
            <a:r>
              <a:t>Scannable, no jargon, clear next steps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617720"/>
            <a:ext cx="10515600" cy="502920"/>
          </a:xfrm>
          <a:prstGeom prst="round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681728"/>
            <a:ext cx="3657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E8853D"/>
                </a:solidFill>
                <a:latin typeface="Arial"/>
              </a:defRPr>
            </a:pPr>
            <a:r>
              <a:t>CTA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681728"/>
            <a:ext cx="5943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9CA3B4"/>
                </a:solidFill>
                <a:latin typeface="Arial"/>
              </a:defRPr>
            </a:pPr>
            <a:r>
              <a:t>Strong call-to-action, easy to act 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53212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0">
                <a:solidFill>
                  <a:srgbClr val="E8ECF4"/>
                </a:solidFill>
                <a:latin typeface="Arial"/>
              </a:defRPr>
            </a:pPr>
            <a:r>
              <a:t>Final verdict: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5486399"/>
            <a:ext cx="1645920" cy="502920"/>
          </a:xfrm>
          <a:prstGeom prst="round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0" y="5513831"/>
            <a:ext cx="1645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0F1219"/>
                </a:solidFill>
                <a:latin typeface="Arial"/>
              </a:defRPr>
            </a:pPr>
            <a:r>
              <a:t>SEND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0" y="5486399"/>
            <a:ext cx="1645920" cy="502920"/>
          </a:xfrm>
          <a:prstGeom prst="round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0" y="5513831"/>
            <a:ext cx="1645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0F1219"/>
                </a:solidFill>
                <a:latin typeface="Arial"/>
              </a:defRPr>
            </a:pPr>
            <a:r>
              <a:t>REVISE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5486399"/>
            <a:ext cx="1645920" cy="502920"/>
          </a:xfrm>
          <a:prstGeom prst="roundRect">
            <a:avLst/>
          </a:prstGeom>
          <a:solidFill>
            <a:srgbClr val="E85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0" y="5513831"/>
            <a:ext cx="1645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0F1219"/>
                </a:solidFill>
                <a:latin typeface="Arial"/>
              </a:defRPr>
            </a:pPr>
            <a:r>
              <a:t>REWRITE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81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3600" b="1">
                <a:solidFill>
                  <a:srgbClr val="E8ECF4"/>
                </a:solidFill>
                <a:latin typeface="Arial"/>
              </a:defRPr>
            </a:pPr>
            <a:r>
              <a:t>The Quality Jump</a:t>
            </a:r>
          </a:p>
        </p:txBody>
      </p:sp>
      <p:sp>
        <p:nvSpPr>
          <p:cNvPr id="4" name="Rectangle 3"/>
          <p:cNvSpPr/>
          <p:nvPr/>
        </p:nvSpPr>
        <p:spPr>
          <a:xfrm>
            <a:off x="5989320" y="1188720"/>
            <a:ext cx="73152" cy="5303520"/>
          </a:xfrm>
          <a:prstGeom prst="rect">
            <a:avLst/>
          </a:prstGeom>
          <a:solidFill>
            <a:srgbClr val="9CA3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09728" cy="365760"/>
          </a:xfrm>
          <a:prstGeom prst="rect">
            <a:avLst/>
          </a:prstGeom>
          <a:solidFill>
            <a:srgbClr val="E85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4572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1">
                <a:solidFill>
                  <a:srgbClr val="E8534E"/>
                </a:solidFill>
                <a:latin typeface="Arial"/>
              </a:defRPr>
            </a:pPr>
            <a:r>
              <a:t>Before (Monolith)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03120"/>
            <a:ext cx="5120640" cy="86868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54864" cy="868680"/>
          </a:xfrm>
          <a:prstGeom prst="rect">
            <a:avLst/>
          </a:prstGeom>
          <a:solidFill>
            <a:srgbClr val="E85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47548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9CA3B4"/>
                </a:solidFill>
                <a:latin typeface="Arial"/>
              </a:defRPr>
            </a:pPr>
            <a:r>
              <a:t>"The schedule looks fine,</a:t>
            </a:r>
            <a:br/>
            <a:r>
              <a:t>  maybe move Talk B"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108960"/>
            <a:ext cx="5120640" cy="86868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108960"/>
            <a:ext cx="54864" cy="868680"/>
          </a:xfrm>
          <a:prstGeom prst="rect">
            <a:avLst/>
          </a:prstGeom>
          <a:solidFill>
            <a:srgbClr val="E85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200400"/>
            <a:ext cx="47548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9CA3B4"/>
                </a:solidFill>
                <a:latin typeface="Arial"/>
              </a:defRPr>
            </a:pPr>
            <a:r>
              <a:t>"The announcement is good,</a:t>
            </a:r>
            <a:br/>
            <a:r>
              <a:t>  consider adding more detail"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14800"/>
            <a:ext cx="5120640" cy="86868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114800"/>
            <a:ext cx="54864" cy="868680"/>
          </a:xfrm>
          <a:prstGeom prst="rect">
            <a:avLst/>
          </a:prstGeom>
          <a:solidFill>
            <a:srgbClr val="E85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206240"/>
            <a:ext cx="47548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9CA3B4"/>
                </a:solidFill>
                <a:latin typeface="Arial"/>
              </a:defRPr>
            </a:pPr>
            <a:r>
              <a:t>Generic, surface-level,</a:t>
            </a:r>
            <a:br/>
            <a:r>
              <a:t>  no specifics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371600"/>
            <a:ext cx="109728" cy="365760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37160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1">
                <a:solidFill>
                  <a:srgbClr val="56C495"/>
                </a:solidFill>
                <a:latin typeface="Arial"/>
              </a:defRPr>
            </a:pPr>
            <a:r>
              <a:t>After (Specialists)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2103120"/>
            <a:ext cx="5212080" cy="86868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2103120"/>
            <a:ext cx="54864" cy="868680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2194560"/>
            <a:ext cx="484632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E8ECF4"/>
                </a:solidFill>
                <a:latin typeface="Arial"/>
              </a:defRPr>
            </a:pPr>
            <a:r>
              <a:t>3 conflicts detected,</a:t>
            </a:r>
            <a:br/>
            <a:r>
              <a:t>  specific resolutions proposed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3108960"/>
            <a:ext cx="5212080" cy="86868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3108960"/>
            <a:ext cx="54864" cy="868680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200400"/>
            <a:ext cx="484632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E8ECF4"/>
                </a:solidFill>
                <a:latin typeface="Arial"/>
              </a:defRPr>
            </a:pPr>
            <a:r>
              <a:t>Email scored 6/10: missing RSVP</a:t>
            </a:r>
            <a:br/>
            <a:r>
              <a:t>  link, weak CTA, tone too formal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4114800"/>
            <a:ext cx="5212080" cy="86868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0" y="4114800"/>
            <a:ext cx="54864" cy="868680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206240"/>
            <a:ext cx="484632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E8ECF4"/>
                </a:solidFill>
                <a:latin typeface="Arial"/>
              </a:defRPr>
            </a:pPr>
            <a:r>
              <a:t>Focused, thorough,</a:t>
            </a:r>
            <a:br/>
            <a:r>
              <a:t>  actionable output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86000" y="5669280"/>
            <a:ext cx="7589520" cy="640080"/>
          </a:xfrm>
          <a:prstGeom prst="round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86000" y="5715000"/>
            <a:ext cx="75895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1">
                <a:solidFill>
                  <a:srgbClr val="E8853D"/>
                </a:solidFill>
                <a:latin typeface="Arial"/>
              </a:defRPr>
            </a:pPr>
            <a:r>
              <a:t>Same model. Same data. Different architecture.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E8ECF4"/>
                </a:solidFill>
                <a:latin typeface="Arial"/>
              </a:defRPr>
            </a:pPr>
            <a:r>
              <a:t>Model Routing with ngrok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3657600" cy="36576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0">
                <a:solidFill>
                  <a:srgbClr val="E8ECF4"/>
                </a:solidFill>
                <a:latin typeface="Arial"/>
              </a:defRPr>
            </a:pPr>
            <a:r>
              <a:t>Route the right model to the right task: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0515600" cy="502920"/>
          </a:xfrm>
          <a:prstGeom prst="round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75688"/>
            <a:ext cx="3200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1">
                <a:solidFill>
                  <a:srgbClr val="0F1219"/>
                </a:solidFill>
                <a:latin typeface="Arial"/>
              </a:defRPr>
            </a:pPr>
            <a:r>
              <a:t>Task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075688"/>
            <a:ext cx="2743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1">
                <a:solidFill>
                  <a:srgbClr val="0F1219"/>
                </a:solidFill>
                <a:latin typeface="Arial"/>
              </a:defRPr>
            </a:pPr>
            <a: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2075688"/>
            <a:ext cx="3657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1">
                <a:solidFill>
                  <a:srgbClr val="0F1219"/>
                </a:solidFill>
                <a:latin typeface="Arial"/>
              </a:defRPr>
            </a:pPr>
            <a:r>
              <a:t>Why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06040"/>
            <a:ext cx="10515600" cy="50292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670048"/>
            <a:ext cx="3200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E8ECF4"/>
                </a:solidFill>
                <a:latin typeface="Arial"/>
              </a:defRPr>
            </a:pPr>
            <a:r>
              <a:t>Drafting email copy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670048"/>
            <a:ext cx="2743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5B9CF5"/>
                </a:solidFill>
                <a:latin typeface="Courier New"/>
              </a:defRPr>
            </a:pPr>
            <a:r>
              <a:t>gpt-4o-mini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670048"/>
            <a:ext cx="3657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9CA3B4"/>
                </a:solidFill>
                <a:latin typeface="Arial"/>
              </a:defRPr>
            </a:pPr>
            <a:r>
              <a:t>Fast, cheap, good at prose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54680"/>
            <a:ext cx="10515600" cy="502920"/>
          </a:xfrm>
          <a:prstGeom prst="round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18688"/>
            <a:ext cx="3200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E8ECF4"/>
                </a:solidFill>
                <a:latin typeface="Arial"/>
              </a:defRPr>
            </a:pPr>
            <a:r>
              <a:t>Schedule optimization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3218688"/>
            <a:ext cx="2743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5B9CF5"/>
                </a:solidFill>
                <a:latin typeface="Courier New"/>
              </a:defRPr>
            </a:pPr>
            <a:r>
              <a:t>claude-sonnet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3218688"/>
            <a:ext cx="3657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9CA3B4"/>
                </a:solidFill>
                <a:latin typeface="Arial"/>
              </a:defRPr>
            </a:pPr>
            <a:r>
              <a:t>Strong at structured reasoning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03320"/>
            <a:ext cx="10515600" cy="50292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767328"/>
            <a:ext cx="3200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E8ECF4"/>
                </a:solidFill>
                <a:latin typeface="Arial"/>
              </a:defRPr>
            </a:pPr>
            <a:r>
              <a:t>Quality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3767328"/>
            <a:ext cx="2743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5B9CF5"/>
                </a:solidFill>
                <a:latin typeface="Courier New"/>
              </a:defRPr>
            </a:pPr>
            <a:r>
              <a:t>claude-sonnet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3767328"/>
            <a:ext cx="3657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9CA3B4"/>
                </a:solidFill>
                <a:latin typeface="Arial"/>
              </a:defRPr>
            </a:pPr>
            <a:r>
              <a:t>Nuanced evaluation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51959"/>
            <a:ext cx="10515600" cy="502920"/>
          </a:xfrm>
          <a:prstGeom prst="round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315968"/>
            <a:ext cx="32004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E8ECF4"/>
                </a:solidFill>
                <a:latin typeface="Arial"/>
              </a:defRPr>
            </a:pPr>
            <a:r>
              <a:t>Simple formatting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4315968"/>
            <a:ext cx="2743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5B9CF5"/>
                </a:solidFill>
                <a:latin typeface="Courier New"/>
              </a:defRPr>
            </a:pPr>
            <a:r>
              <a:t>gpt-4o-mini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4315968"/>
            <a:ext cx="3657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9CA3B4"/>
                </a:solidFill>
                <a:latin typeface="Arial"/>
              </a:defRPr>
            </a:pPr>
            <a:r>
              <a:t>Don't overspend on easy tasks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28800" y="5257799"/>
            <a:ext cx="8503920" cy="548640"/>
          </a:xfrm>
          <a:prstGeom prst="round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28800" y="5285231"/>
            <a:ext cx="85039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900" b="1">
                <a:solidFill>
                  <a:srgbClr val="56C495"/>
                </a:solidFill>
                <a:latin typeface="Arial"/>
              </a:defRPr>
            </a:pPr>
            <a:r>
              <a:t>ngrok AI Gateway handles routing -- you set the rules.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E8ECF4"/>
                </a:solidFill>
                <a:latin typeface="Arial"/>
              </a:defRPr>
            </a:pPr>
            <a:r>
              <a:t>Hooks -- Lifecycle Automation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4114800" cy="36576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0">
                <a:solidFill>
                  <a:srgbClr val="E8ECF4"/>
                </a:solidFill>
                <a:latin typeface="Arial"/>
              </a:defRPr>
            </a:pPr>
            <a:r>
              <a:t>Hooks = code that runs when things happen in Claude Code.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10789920" cy="457200"/>
          </a:xfrm>
          <a:prstGeom prst="round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0F1219"/>
                </a:solidFill>
                <a:latin typeface="Arial"/>
              </a:defRPr>
            </a:pPr>
            <a:r>
              <a:t>Hook Event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965960"/>
            <a:ext cx="3200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0F1219"/>
                </a:solidFill>
                <a:latin typeface="Arial"/>
              </a:defRPr>
            </a:pPr>
            <a:r>
              <a:t>When It Fires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965960"/>
            <a:ext cx="3474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0F1219"/>
                </a:solidFill>
                <a:latin typeface="Arial"/>
              </a:defRPr>
            </a:pPr>
            <a:r>
              <a:t>Use Case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450592"/>
            <a:ext cx="10789920" cy="438912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496312"/>
            <a:ext cx="27432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5B9CF5"/>
                </a:solidFill>
                <a:latin typeface="Courier New"/>
              </a:defRPr>
            </a:pPr>
            <a:r>
              <a:t>PreToolUse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2496312"/>
            <a:ext cx="32004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E8ECF4"/>
                </a:solidFill>
                <a:latin typeface="Arial"/>
              </a:defRPr>
            </a:pPr>
            <a:r>
              <a:t>Before a tool executes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496312"/>
            <a:ext cx="34747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9CA3B4"/>
                </a:solidFill>
                <a:latin typeface="Arial"/>
              </a:defRPr>
            </a:pPr>
            <a:r>
              <a:t>Block dangerous ops, validate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080"/>
            <a:ext cx="10789920" cy="438912"/>
          </a:xfrm>
          <a:prstGeom prst="round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971800"/>
            <a:ext cx="27432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5B9CF5"/>
                </a:solidFill>
                <a:latin typeface="Courier New"/>
              </a:defRPr>
            </a:pPr>
            <a:r>
              <a:t>PostToolUse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971800"/>
            <a:ext cx="32004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E8ECF4"/>
                </a:solidFill>
                <a:latin typeface="Arial"/>
              </a:defRPr>
            </a:pPr>
            <a:r>
              <a:t>After a tool completes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971800"/>
            <a:ext cx="34747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9CA3B4"/>
                </a:solidFill>
                <a:latin typeface="Arial"/>
              </a:defRPr>
            </a:pPr>
            <a:r>
              <a:t>Trigger reviews, log actions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401568"/>
            <a:ext cx="10789920" cy="438912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447288"/>
            <a:ext cx="27432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5B9CF5"/>
                </a:solidFill>
                <a:latin typeface="Courier New"/>
              </a:defRPr>
            </a:pPr>
            <a:r>
              <a:t>UserPromptSubmit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3447288"/>
            <a:ext cx="32004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E8ECF4"/>
                </a:solidFill>
                <a:latin typeface="Arial"/>
              </a:defRPr>
            </a:pPr>
            <a:r>
              <a:t>When user sends message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447288"/>
            <a:ext cx="34747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9CA3B4"/>
                </a:solidFill>
                <a:latin typeface="Arial"/>
              </a:defRPr>
            </a:pPr>
            <a:r>
              <a:t>Validate/transform input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77056"/>
            <a:ext cx="10789920" cy="438912"/>
          </a:xfrm>
          <a:prstGeom prst="round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922776"/>
            <a:ext cx="27432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5B9CF5"/>
                </a:solidFill>
                <a:latin typeface="Courier New"/>
              </a:defRPr>
            </a:pPr>
            <a:r>
              <a:t>Stop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3922776"/>
            <a:ext cx="32004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E8ECF4"/>
                </a:solidFill>
                <a:latin typeface="Arial"/>
              </a:defRPr>
            </a:pPr>
            <a:r>
              <a:t>When agent finishes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3922776"/>
            <a:ext cx="34747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9CA3B4"/>
                </a:solidFill>
                <a:latin typeface="Arial"/>
              </a:defRPr>
            </a:pPr>
            <a:r>
              <a:t>Summarize, commit, clean up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352544"/>
            <a:ext cx="10789920" cy="438912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398264"/>
            <a:ext cx="27432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5B9CF5"/>
                </a:solidFill>
                <a:latin typeface="Courier New"/>
              </a:defRPr>
            </a:pPr>
            <a:r>
              <a:t>SubagentStop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4398264"/>
            <a:ext cx="32004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E8ECF4"/>
                </a:solidFill>
                <a:latin typeface="Arial"/>
              </a:defRPr>
            </a:pPr>
            <a:r>
              <a:t>When subagent finishes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398264"/>
            <a:ext cx="34747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9CA3B4"/>
                </a:solidFill>
                <a:latin typeface="Arial"/>
              </a:defRPr>
            </a:pPr>
            <a:r>
              <a:t>Process subagent results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828031"/>
            <a:ext cx="10789920" cy="438912"/>
          </a:xfrm>
          <a:prstGeom prst="round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873751"/>
            <a:ext cx="27432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5B9CF5"/>
                </a:solidFill>
                <a:latin typeface="Courier New"/>
              </a:defRPr>
            </a:pPr>
            <a:r>
              <a:t>Notification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4873751"/>
            <a:ext cx="32004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E8ECF4"/>
                </a:solidFill>
                <a:latin typeface="Arial"/>
              </a:defRPr>
            </a:pPr>
            <a:r>
              <a:t>When notification sent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4873751"/>
            <a:ext cx="34747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9CA3B4"/>
                </a:solidFill>
                <a:latin typeface="Arial"/>
              </a:defRPr>
            </a:pPr>
            <a:r>
              <a:t>React to system events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486399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9CA3B4"/>
                </a:solidFill>
                <a:latin typeface="Arial"/>
              </a:defRPr>
            </a:pPr>
            <a:r>
              <a:t>Each hook receives JSON on stdin with event details.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943599"/>
            <a:ext cx="10972800" cy="548640"/>
          </a:xfrm>
          <a:prstGeom prst="round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5971031"/>
            <a:ext cx="10972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E8853D"/>
                </a:solidFill>
                <a:latin typeface="Arial"/>
              </a:defRPr>
            </a:pPr>
            <a:r>
              <a:t>Think of hooks as CI/CD for your agent workflow.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E8ECF4"/>
                </a:solidFill>
                <a:latin typeface="Arial"/>
              </a:defRPr>
            </a:pPr>
            <a:r>
              <a:t>Auto-Review Hook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75520" y="320040"/>
            <a:ext cx="1645920" cy="411480"/>
          </a:xfrm>
          <a:prstGeom prst="round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0" y="338328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0F1219"/>
                </a:solidFill>
                <a:latin typeface="Arial"/>
              </a:defRPr>
            </a:pPr>
            <a:r>
              <a:t>BASH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9CA3B4"/>
                </a:solidFill>
                <a:latin typeface="Courier New"/>
              </a:defRPr>
            </a:pPr>
            <a:r>
              <a:t>.claude/hooks/auto-review.sh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80160"/>
            <a:ext cx="11430000" cy="4937760"/>
          </a:xfrm>
          <a:prstGeom prst="round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94360" y="1417320"/>
            <a:ext cx="146304" cy="146304"/>
          </a:xfrm>
          <a:prstGeom prst="ellipse">
            <a:avLst/>
          </a:prstGeom>
          <a:solidFill>
            <a:srgbClr val="E85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68680" y="1417320"/>
            <a:ext cx="146304" cy="146304"/>
          </a:xfrm>
          <a:prstGeom prst="ellipse">
            <a:avLst/>
          </a:prstGeom>
          <a:solidFill>
            <a:srgbClr val="F5B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3000" y="1417320"/>
            <a:ext cx="146304" cy="146304"/>
          </a:xfrm>
          <a:prstGeom prst="ellipse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737360"/>
            <a:ext cx="10789920" cy="4389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56C495"/>
                </a:solidFill>
                <a:latin typeface="Courier New"/>
              </a:defRPr>
            </a:pPr>
            <a:r>
              <a:t>#!/bin/bash</a:t>
            </a:r>
            <a:br/>
            <a:r>
              <a:t># PostToolUse hook: fires after every Write call</a:t>
            </a:r>
            <a:br/>
            <a:br/>
            <a:r>
              <a:t>INPUT=$(cat)</a:t>
            </a:r>
            <a:br/>
            <a:br/>
            <a:r>
              <a:t>TOOL_NAME=$(echo "$INPUT" | python3 -c \</a:t>
            </a:r>
            <a:br/>
            <a:r>
              <a:t>  "import sys,json; \</a:t>
            </a:r>
            <a:br/>
            <a:r>
              <a:t>   d=json.load(sys.stdin); \</a:t>
            </a:r>
            <a:br/>
            <a:r>
              <a:t>   print(d.get('tool_name',''))" 2&gt;/dev/null)</a:t>
            </a:r>
            <a:br/>
            <a:br/>
            <a:r>
              <a:t>FILE_PATH=$(echo "$INPUT" | python3 -c \</a:t>
            </a:r>
            <a:br/>
            <a:r>
              <a:t>  "import sys,json; \</a:t>
            </a:r>
            <a:br/>
            <a:r>
              <a:t>   d=json.load(sys.stdin); \</a:t>
            </a:r>
            <a:br/>
            <a:r>
              <a:t>   print(d.get('tool_input',{}) \</a:t>
            </a:r>
            <a:br/>
            <a:r>
              <a:t>     .get('file_path',''))" 2&gt;/dev/null)</a:t>
            </a:r>
            <a:br/>
            <a:br/>
            <a:r>
              <a:t>if [[ "$TOOL_NAME" == "Write" ]]; then</a:t>
            </a:r>
            <a:br/>
            <a:r>
              <a:t>  if [[ "$FILE_PATH" == *"comms/"* ]]; then</a:t>
            </a:r>
            <a:br/>
            <a:r>
              <a:t>    echo "Auto-review triggered for $FILE_PATH"</a:t>
            </a:r>
            <a:br/>
            <a:r>
              <a:t>  fi</a:t>
            </a:r>
            <a:br/>
            <a:r>
              <a:t>fi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75120"/>
            <a:ext cx="12191695" cy="4572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E8ECF4"/>
                </a:solidFill>
                <a:latin typeface="Arial"/>
              </a:defRPr>
            </a:pPr>
            <a:r>
              <a:t>Registering Hooks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875520" y="320040"/>
            <a:ext cx="1645920" cy="411480"/>
          </a:xfrm>
          <a:prstGeom prst="round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0" y="338328"/>
            <a:ext cx="16459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0F1219"/>
                </a:solidFill>
                <a:latin typeface="Arial"/>
              </a:defRPr>
            </a:pPr>
            <a:r>
              <a:t>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9CA3B4"/>
                </a:solidFill>
                <a:latin typeface="Courier New"/>
              </a:defRPr>
            </a:pPr>
            <a:r>
              <a:t>.claude/settings.local.json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80160"/>
            <a:ext cx="11430000" cy="3474720"/>
          </a:xfrm>
          <a:prstGeom prst="roundRect">
            <a:avLst/>
          </a:prstGeom>
          <a:solidFill>
            <a:srgbClr val="0A0D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94360" y="1417320"/>
            <a:ext cx="146304" cy="146304"/>
          </a:xfrm>
          <a:prstGeom prst="ellipse">
            <a:avLst/>
          </a:prstGeom>
          <a:solidFill>
            <a:srgbClr val="E85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68680" y="1417320"/>
            <a:ext cx="146304" cy="146304"/>
          </a:xfrm>
          <a:prstGeom prst="ellipse">
            <a:avLst/>
          </a:prstGeom>
          <a:solidFill>
            <a:srgbClr val="F5B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3000" y="1417320"/>
            <a:ext cx="146304" cy="146304"/>
          </a:xfrm>
          <a:prstGeom prst="ellipse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737360"/>
            <a:ext cx="10789920" cy="2926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700" b="0">
                <a:solidFill>
                  <a:srgbClr val="56C495"/>
                </a:solidFill>
                <a:latin typeface="Courier New"/>
              </a:defRPr>
            </a:pPr>
            <a:r>
              <a:t>{</a:t>
            </a:r>
            <a:br/>
            <a:r>
              <a:t>  "hooks": {</a:t>
            </a:r>
            <a:br/>
            <a:r>
              <a:t>    "PostToolUse": [</a:t>
            </a:r>
            <a:br/>
            <a:r>
              <a:t>      {</a:t>
            </a:r>
            <a:br/>
            <a:r>
              <a:t>        "matcher": "Write",</a:t>
            </a:r>
            <a:br/>
            <a:r>
              <a:t>        "hooks": [</a:t>
            </a:r>
            <a:br/>
            <a:r>
              <a:t>          {</a:t>
            </a:r>
            <a:br/>
            <a:r>
              <a:t>            "type": "command",</a:t>
            </a:r>
            <a:br/>
            <a:r>
              <a:t>            "command": ".claude/hooks/auto-review.sh"</a:t>
            </a:r>
            <a:br/>
            <a:r>
              <a:t>          }</a:t>
            </a:r>
            <a:br/>
            <a:r>
              <a:t>        ]</a:t>
            </a:r>
            <a:br/>
            <a:r>
              <a:t>      }</a:t>
            </a:r>
            <a:br/>
            <a:r>
              <a:t>    ]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029200"/>
            <a:ext cx="10515600" cy="384048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5056632"/>
            <a:ext cx="320040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5B9CF5"/>
                </a:solidFill>
                <a:latin typeface="Courier New"/>
              </a:defRPr>
            </a:pPr>
            <a:r>
              <a:t>PostToolUse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5056632"/>
            <a:ext cx="640080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9CA3B4"/>
                </a:solidFill>
                <a:latin typeface="Arial"/>
              </a:defRPr>
            </a:pPr>
            <a:r>
              <a:t>Fire after a tool runs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49824"/>
            <a:ext cx="10515600" cy="384048"/>
          </a:xfrm>
          <a:prstGeom prst="round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477256"/>
            <a:ext cx="320040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5B9CF5"/>
                </a:solidFill>
                <a:latin typeface="Courier New"/>
              </a:defRPr>
            </a:pPr>
            <a:r>
              <a:t>matcher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5477256"/>
            <a:ext cx="640080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9CA3B4"/>
                </a:solidFill>
                <a:latin typeface="Arial"/>
              </a:defRPr>
            </a:pPr>
            <a:r>
              <a:t>Only trigger on Write tool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70448"/>
            <a:ext cx="10515600" cy="384048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897880"/>
            <a:ext cx="320040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5B9CF5"/>
                </a:solidFill>
                <a:latin typeface="Courier New"/>
              </a:defRPr>
            </a:pPr>
            <a:r>
              <a:t>hooks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5897880"/>
            <a:ext cx="640080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9CA3B4"/>
                </a:solidFill>
                <a:latin typeface="Arial"/>
              </a:defRPr>
            </a:pPr>
            <a:r>
              <a:t>Array of hook actions to execute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6291072"/>
            <a:ext cx="10515600" cy="384048"/>
          </a:xfrm>
          <a:prstGeom prst="round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318504"/>
            <a:ext cx="320040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5B9CF5"/>
                </a:solidFill>
                <a:latin typeface="Courier New"/>
              </a:defRPr>
            </a:pPr>
            <a:r>
              <a:t>type + command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6318504"/>
            <a:ext cx="640080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9CA3B4"/>
                </a:solidFill>
                <a:latin typeface="Arial"/>
              </a:defRPr>
            </a:pPr>
            <a:r>
              <a:t>Run a shell command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75120"/>
            <a:ext cx="12191695" cy="4572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8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32004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000" b="1">
                <a:solidFill>
                  <a:srgbClr val="E8853D"/>
                </a:solidFill>
                <a:latin typeface="Arial"/>
              </a:defRPr>
            </a:pPr>
            <a:r>
              <a:t>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32004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0" b="1">
                <a:solidFill>
                  <a:srgbClr val="E8853D"/>
                </a:solidFill>
                <a:latin typeface="Arial"/>
              </a:defRPr>
            </a:pPr>
            <a:r>
              <a:t>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457200"/>
            <a:ext cx="73152" cy="59436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0" y="1828800"/>
            <a:ext cx="68580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4400" b="1">
                <a:solidFill>
                  <a:srgbClr val="E8ECF4"/>
                </a:solidFill>
                <a:latin typeface="Arial"/>
              </a:defRPr>
            </a:pPr>
            <a:r>
              <a:t>The Full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2743200"/>
            <a:ext cx="6858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0">
                <a:solidFill>
                  <a:srgbClr val="9CA3B4"/>
                </a:solidFill>
                <a:latin typeface="Arial"/>
              </a:defRPr>
            </a:pPr>
            <a:r>
              <a:t>Watch it all connect: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3383280"/>
            <a:ext cx="6217920" cy="384048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937760" y="3383280"/>
            <a:ext cx="54864" cy="38404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66360" y="3401568"/>
            <a:ext cx="58521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E8853D"/>
                </a:solidFill>
                <a:latin typeface="Courier New"/>
              </a:defRPr>
            </a:pPr>
            <a:r>
              <a:t>/plan-event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3730752"/>
            <a:ext cx="2743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9CA3B4"/>
                </a:solidFill>
                <a:latin typeface="Courier New"/>
              </a:defRPr>
            </a:pPr>
            <a:r>
              <a:t>|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37760" y="3840480"/>
            <a:ext cx="6217920" cy="384048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37760" y="3840480"/>
            <a:ext cx="54864" cy="384048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3858768"/>
            <a:ext cx="58521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5B9CF5"/>
                </a:solidFill>
                <a:latin typeface="Courier New"/>
              </a:defRPr>
            </a:pPr>
            <a:r>
              <a:t>/build-schedule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4187952"/>
            <a:ext cx="2743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9CA3B4"/>
                </a:solidFill>
                <a:latin typeface="Courier New"/>
              </a:defRPr>
            </a:pPr>
            <a:r>
              <a:t>|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0" y="4297680"/>
            <a:ext cx="6217920" cy="384048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37760" y="4297680"/>
            <a:ext cx="54864" cy="384048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66360" y="4315968"/>
            <a:ext cx="58521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56C495"/>
                </a:solidFill>
                <a:latin typeface="Courier New"/>
              </a:defRPr>
            </a:pPr>
            <a:r>
              <a:t>schedule-optimizer (auto)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4645152"/>
            <a:ext cx="2743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9CA3B4"/>
                </a:solidFill>
                <a:latin typeface="Courier New"/>
              </a:defRPr>
            </a:pPr>
            <a:r>
              <a:t>|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37760" y="4754880"/>
            <a:ext cx="6217920" cy="384048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937760" y="4754880"/>
            <a:ext cx="54864" cy="384048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66360" y="4773168"/>
            <a:ext cx="58521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5B9CF5"/>
                </a:solidFill>
                <a:latin typeface="Courier New"/>
              </a:defRPr>
            </a:pPr>
            <a:r>
              <a:t>/draft-announcement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5102352"/>
            <a:ext cx="2743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9CA3B4"/>
                </a:solidFill>
                <a:latin typeface="Courier New"/>
              </a:defRPr>
            </a:pPr>
            <a:r>
              <a:t>|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37760" y="5212080"/>
            <a:ext cx="6217920" cy="384048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37760" y="5212080"/>
            <a:ext cx="54864" cy="38404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66360" y="5230368"/>
            <a:ext cx="58521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E8853D"/>
                </a:solidFill>
                <a:latin typeface="Courier New"/>
              </a:defRPr>
            </a:pPr>
            <a:r>
              <a:t>Write -&gt; hook -&gt; comms-reviewer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0" y="5669280"/>
            <a:ext cx="6217920" cy="384048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937760" y="5669280"/>
            <a:ext cx="54864" cy="384048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66360" y="5687568"/>
            <a:ext cx="58521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56C495"/>
                </a:solidFill>
                <a:latin typeface="Courier New"/>
              </a:defRPr>
            </a:pPr>
            <a:r>
              <a:t>SEND / REVISE / REWRITE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6217920"/>
            <a:ext cx="6858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E8853D"/>
                </a:solidFill>
                <a:latin typeface="Arial"/>
              </a:defRPr>
            </a:pPr>
            <a:r>
              <a:t>Zero manual review steps. Automated quality.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E8ECF4"/>
                </a:solidFill>
                <a:latin typeface="Arial"/>
              </a:defRPr>
            </a:pPr>
            <a:r>
              <a:t>MCP -- Connecting External Tools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4572000" cy="36576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0">
                <a:solidFill>
                  <a:srgbClr val="E8ECF4"/>
                </a:solidFill>
                <a:latin typeface="Arial"/>
              </a:defRPr>
            </a:pPr>
            <a:r>
              <a:t>Model Context Protocol -- standard interface for external tools.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743200" cy="64008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27432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743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E8ECF4"/>
                </a:solidFill>
                <a:latin typeface="Arial"/>
              </a:defRPr>
            </a:pPr>
            <a:r>
              <a:t>Claude Code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2286000"/>
            <a:ext cx="914400" cy="36576"/>
          </a:xfrm>
          <a:prstGeom prst="rect">
            <a:avLst/>
          </a:prstGeom>
          <a:solidFill>
            <a:srgbClr val="9CA3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23360" y="2148840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9CA3B4"/>
                </a:solidFill>
                <a:latin typeface="Arial"/>
              </a:defRPr>
            </a:pPr>
            <a: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011680"/>
            <a:ext cx="2560320" cy="64008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2011680"/>
            <a:ext cx="2560320" cy="54864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2148840"/>
            <a:ext cx="2560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E8ECF4"/>
                </a:solidFill>
                <a:latin typeface="Arial"/>
              </a:defRPr>
            </a:pPr>
            <a:r>
              <a:t>MCP Server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0" y="2286000"/>
            <a:ext cx="914400" cy="36576"/>
          </a:xfrm>
          <a:prstGeom prst="rect">
            <a:avLst/>
          </a:prstGeom>
          <a:solidFill>
            <a:srgbClr val="9CA3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2148840"/>
            <a:ext cx="2743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9CA3B4"/>
                </a:solidFill>
                <a:latin typeface="Arial"/>
              </a:defRPr>
            </a:pPr>
            <a:r>
              <a:t>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1828800"/>
            <a:ext cx="3200400" cy="384048"/>
          </a:xfrm>
          <a:prstGeom prst="round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856231"/>
            <a:ext cx="292608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5B9CF5"/>
                </a:solidFill>
                <a:latin typeface="Arial"/>
              </a:defRPr>
            </a:pPr>
            <a:r>
              <a:t>Eventbrite API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2267712"/>
            <a:ext cx="3200400" cy="384048"/>
          </a:xfrm>
          <a:prstGeom prst="round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295144"/>
            <a:ext cx="292608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5B9CF5"/>
                </a:solidFill>
                <a:latin typeface="Arial"/>
              </a:defRPr>
            </a:pPr>
            <a:r>
              <a:t>Google Calendar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2706624"/>
            <a:ext cx="3200400" cy="384048"/>
          </a:xfrm>
          <a:prstGeom prst="round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2734056"/>
            <a:ext cx="292608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5B9CF5"/>
                </a:solidFill>
                <a:latin typeface="Arial"/>
              </a:defRPr>
            </a:pPr>
            <a:r>
              <a:t>Slack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3145536"/>
            <a:ext cx="3200400" cy="384048"/>
          </a:xfrm>
          <a:prstGeom prst="round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3172968"/>
            <a:ext cx="292608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0">
                <a:solidFill>
                  <a:srgbClr val="5B9CF5"/>
                </a:solidFill>
                <a:latin typeface="Arial"/>
              </a:defRPr>
            </a:pPr>
            <a:r>
              <a:t>Database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20040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E8ECF4"/>
                </a:solidFill>
                <a:latin typeface="Arial"/>
              </a:defRPr>
            </a:pPr>
            <a:r>
              <a:t>Recent improvements: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749039"/>
            <a:ext cx="109728" cy="109728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3657600"/>
            <a:ext cx="2743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56C495"/>
                </a:solidFill>
                <a:latin typeface="Arial"/>
              </a:defRPr>
            </a:pPr>
            <a:r>
              <a:t>Tool Search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365760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9CA3B4"/>
                </a:solidFill>
                <a:latin typeface="Arial"/>
              </a:defRPr>
            </a:pPr>
            <a:r>
              <a:t> -- lazy-loads tools on demand, up to 95% context savings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206240"/>
            <a:ext cx="109728" cy="109728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114800"/>
            <a:ext cx="2743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56C495"/>
                </a:solidFill>
                <a:latin typeface="Arial"/>
              </a:defRPr>
            </a:pPr>
            <a:r>
              <a:t>Channels (preview)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4114800"/>
            <a:ext cx="7315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9CA3B4"/>
                </a:solidFill>
                <a:latin typeface="Arial"/>
              </a:defRPr>
            </a:pPr>
            <a:r>
              <a:t> -- MCP servers push messages into your session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57200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0">
                <a:solidFill>
                  <a:srgbClr val="E8ECF4"/>
                </a:solidFill>
                <a:latin typeface="Arial"/>
              </a:defRPr>
            </a:pPr>
            <a:r>
              <a:t>For MeetupBot in production, MCP could connect: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029200"/>
            <a:ext cx="5029200" cy="384048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056632"/>
            <a:ext cx="228600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5B9CF5"/>
                </a:solidFill>
                <a:latin typeface="Arial"/>
              </a:defRPr>
            </a:pPr>
            <a:r>
              <a:t>Eventbrite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17520" y="5056632"/>
            <a:ext cx="25603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9CA3B4"/>
                </a:solidFill>
                <a:latin typeface="Arial"/>
              </a:defRPr>
            </a:pPr>
            <a:r>
              <a:t>auto-publish events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468112"/>
            <a:ext cx="5029200" cy="384048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495544"/>
            <a:ext cx="228600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5B9CF5"/>
                </a:solidFill>
                <a:latin typeface="Arial"/>
              </a:defRPr>
            </a:pPr>
            <a:r>
              <a:t>Google Calendar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17520" y="5495544"/>
            <a:ext cx="25603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9CA3B4"/>
                </a:solidFill>
                <a:latin typeface="Arial"/>
              </a:defRPr>
            </a:pPr>
            <a:r>
              <a:t>check venue availability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907024"/>
            <a:ext cx="5029200" cy="384048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934456"/>
            <a:ext cx="228600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5B9CF5"/>
                </a:solidFill>
                <a:latin typeface="Arial"/>
              </a:defRPr>
            </a:pPr>
            <a:r>
              <a:t>Slack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17520" y="5934456"/>
            <a:ext cx="25603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9CA3B4"/>
                </a:solidFill>
                <a:latin typeface="Arial"/>
              </a:defRPr>
            </a:pPr>
            <a:r>
              <a:t>post announcements to channels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6345936"/>
            <a:ext cx="5029200" cy="384048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6373368"/>
            <a:ext cx="228600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5B9CF5"/>
                </a:solidFill>
                <a:latin typeface="Arial"/>
              </a:defRPr>
            </a:pPr>
            <a:r>
              <a:t>Notion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17520" y="6373368"/>
            <a:ext cx="25603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9CA3B4"/>
                </a:solidFill>
                <a:latin typeface="Arial"/>
              </a:defRPr>
            </a:pPr>
            <a:r>
              <a:t>update planning docs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400800"/>
            <a:ext cx="10058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9CA3B4"/>
                </a:solidFill>
                <a:latin typeface="Arial"/>
              </a:defRPr>
            </a:pPr>
            <a:r>
              <a:t>Aside for today -- but the architecture supports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81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3600" b="1">
                <a:solidFill>
                  <a:srgbClr val="E8ECF4"/>
                </a:solidFill>
                <a:latin typeface="Arial"/>
              </a:defRPr>
            </a:pPr>
            <a:r>
              <a:t>Tips &amp; Gotchas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89320" y="1188720"/>
            <a:ext cx="73152" cy="5303520"/>
          </a:xfrm>
          <a:prstGeom prst="rect">
            <a:avLst/>
          </a:prstGeom>
          <a:solidFill>
            <a:srgbClr val="9CA3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09728" cy="365760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4572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56C495"/>
                </a:solidFill>
                <a:latin typeface="Arial"/>
              </a:defRPr>
            </a:pPr>
            <a:r>
              <a:t>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5120640" cy="50292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54864" cy="502920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84832"/>
            <a:ext cx="4754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E8ECF4"/>
                </a:solidFill>
                <a:latin typeface="Arial"/>
              </a:defRPr>
            </a:pPr>
            <a:r>
              <a:t>Use "Proactively" in subagent descriptions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06040"/>
            <a:ext cx="5120640" cy="50292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606040"/>
            <a:ext cx="54864" cy="502920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679192"/>
            <a:ext cx="4754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E8ECF4"/>
                </a:solidFill>
                <a:latin typeface="Arial"/>
              </a:defRPr>
            </a:pPr>
            <a:r>
              <a:t>Design descriptions to be self-contained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200400"/>
            <a:ext cx="5120640" cy="50292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200400"/>
            <a:ext cx="54864" cy="502920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273552"/>
            <a:ext cx="4754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E8ECF4"/>
                </a:solidFill>
                <a:latin typeface="Arial"/>
              </a:defRPr>
            </a:pPr>
            <a:r>
              <a:t>Give subagents minimal tool sets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794760"/>
            <a:ext cx="5120640" cy="50292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794760"/>
            <a:ext cx="54864" cy="502920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867912"/>
            <a:ext cx="4754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E8ECF4"/>
                </a:solidFill>
                <a:latin typeface="Arial"/>
              </a:defRPr>
            </a:pPr>
            <a:r>
              <a:t>Return structured JSON from subagents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389120"/>
            <a:ext cx="5120640" cy="50292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389120"/>
            <a:ext cx="54864" cy="502920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462272"/>
            <a:ext cx="47548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E8ECF4"/>
                </a:solidFill>
                <a:latin typeface="Arial"/>
              </a:defRPr>
            </a:pPr>
            <a:r>
              <a:t>Test subagents in isolation first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1371600"/>
            <a:ext cx="109728" cy="365760"/>
          </a:xfrm>
          <a:prstGeom prst="rect">
            <a:avLst/>
          </a:prstGeom>
          <a:solidFill>
            <a:srgbClr val="E85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0" y="1371600"/>
            <a:ext cx="4572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E8534E"/>
                </a:solidFill>
                <a:latin typeface="Arial"/>
              </a:defRPr>
            </a:pPr>
            <a:r>
              <a:t>Don't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2011680"/>
            <a:ext cx="5212080" cy="50292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0" y="2011680"/>
            <a:ext cx="54864" cy="502920"/>
          </a:xfrm>
          <a:prstGeom prst="rect">
            <a:avLst/>
          </a:prstGeom>
          <a:solidFill>
            <a:srgbClr val="E85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2084832"/>
            <a:ext cx="4846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E8ECF4"/>
                </a:solidFill>
                <a:latin typeface="Arial"/>
              </a:defRPr>
            </a:pPr>
            <a:r>
              <a:t>Give subagents tools they don't need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2606040"/>
            <a:ext cx="5212080" cy="50292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0" y="2606040"/>
            <a:ext cx="54864" cy="502920"/>
          </a:xfrm>
          <a:prstGeom prst="rect">
            <a:avLst/>
          </a:prstGeom>
          <a:solidFill>
            <a:srgbClr val="E85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2679192"/>
            <a:ext cx="4846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E8ECF4"/>
                </a:solidFill>
                <a:latin typeface="Arial"/>
              </a:defRPr>
            </a:pPr>
            <a:r>
              <a:t>Assume subagents share context with parent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3200400"/>
            <a:ext cx="5212080" cy="50292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0" y="3200400"/>
            <a:ext cx="54864" cy="502920"/>
          </a:xfrm>
          <a:prstGeom prst="rect">
            <a:avLst/>
          </a:prstGeom>
          <a:solidFill>
            <a:srgbClr val="E85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3273552"/>
            <a:ext cx="4846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E8ECF4"/>
                </a:solidFill>
                <a:latin typeface="Arial"/>
              </a:defRPr>
            </a:pPr>
            <a:r>
              <a:t>Hook every single tool event (performance)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0" y="3794760"/>
            <a:ext cx="5212080" cy="50292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0" y="3794760"/>
            <a:ext cx="54864" cy="502920"/>
          </a:xfrm>
          <a:prstGeom prst="rect">
            <a:avLst/>
          </a:prstGeom>
          <a:solidFill>
            <a:srgbClr val="E85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29400" y="3867912"/>
            <a:ext cx="4846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E8ECF4"/>
                </a:solidFill>
                <a:latin typeface="Arial"/>
              </a:defRPr>
            </a:pPr>
            <a:r>
              <a:t>Make subagents that depend on each other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4389120"/>
            <a:ext cx="5212080" cy="50292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4389120"/>
            <a:ext cx="54864" cy="502920"/>
          </a:xfrm>
          <a:prstGeom prst="rect">
            <a:avLst/>
          </a:prstGeom>
          <a:solidFill>
            <a:srgbClr val="E85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29400" y="4462272"/>
            <a:ext cx="48463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E8ECF4"/>
                </a:solidFill>
                <a:latin typeface="Arial"/>
              </a:defRPr>
            </a:pPr>
            <a:r>
              <a:t>Skip the one-shot pattern (keep focused)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657600" y="1371600"/>
            <a:ext cx="4876495" cy="4876495"/>
          </a:xfrm>
          <a:prstGeom prst="ellipse">
            <a:avLst/>
          </a:prstGeom>
          <a:solidFill>
            <a:srgbClr val="232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645920"/>
            <a:ext cx="1219169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9CA3B4"/>
                </a:solidFill>
                <a:latin typeface="Arial"/>
              </a:defRPr>
            </a:pPr>
            <a:r>
              <a:t>EXERCISE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560320"/>
            <a:ext cx="12191695" cy="2286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0" b="1">
                <a:solidFill>
                  <a:srgbClr val="E8853D"/>
                </a:solidFill>
                <a:latin typeface="Arial"/>
              </a:defRPr>
            </a:pPr>
            <a:r>
              <a:t>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0">
                <a:solidFill>
                  <a:srgbClr val="9CA3B4"/>
                </a:solidFill>
                <a:latin typeface="Arial"/>
              </a:defRPr>
            </a:pPr>
            <a:r>
              <a:t>Specialist Subagents + Auto-Review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5486400"/>
            <a:ext cx="5943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500" b="0">
                <a:solidFill>
                  <a:srgbClr val="9CA3B4"/>
                </a:solidFill>
                <a:latin typeface="Arial"/>
              </a:defRPr>
            </a:pPr>
            <a:r>
              <a:t>1. Create schedule-optimizer subagent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5760720"/>
            <a:ext cx="5943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500" b="0">
                <a:solidFill>
                  <a:srgbClr val="9CA3B4"/>
                </a:solidFill>
                <a:latin typeface="Arial"/>
              </a:defRPr>
            </a:pPr>
            <a:r>
              <a:t>2. Create comms-reviewer subagent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035040"/>
            <a:ext cx="5943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500" b="0">
                <a:solidFill>
                  <a:srgbClr val="9CA3B4"/>
                </a:solidFill>
                <a:latin typeface="Arial"/>
              </a:defRPr>
            </a:pPr>
            <a:r>
              <a:t>3. Wire up the auto-review 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6309359"/>
            <a:ext cx="5943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500" b="0">
                <a:solidFill>
                  <a:srgbClr val="9CA3B4"/>
                </a:solidFill>
                <a:latin typeface="Arial"/>
              </a:defRPr>
            </a:pPr>
            <a:r>
              <a:t>4. Run the full loop and compare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492240"/>
            <a:ext cx="12191695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1">
                <a:solidFill>
                  <a:srgbClr val="E8853D"/>
                </a:solidFill>
                <a:latin typeface="Arial"/>
              </a:defRPr>
            </a:pPr>
            <a:r>
              <a:t>Time: ~35 minutes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E8ECF4"/>
                </a:solidFill>
                <a:latin typeface="Arial"/>
              </a:defRPr>
            </a:pPr>
            <a:r>
              <a:t>Checkpoint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011680" cy="36576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0">
                <a:solidFill>
                  <a:srgbClr val="E8ECF4"/>
                </a:solidFill>
                <a:latin typeface="Arial"/>
              </a:defRPr>
            </a:pPr>
            <a:r>
              <a:t>Before moving on, verify: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0515600" cy="73152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94560"/>
            <a:ext cx="365760" cy="365760"/>
          </a:xfrm>
          <a:prstGeom prst="roundRect">
            <a:avLst/>
          </a:prstGeom>
          <a:solidFill>
            <a:srgbClr val="0A0D12"/>
          </a:solidFill>
          <a:ln w="25400">
            <a:solidFill>
              <a:srgbClr val="56C4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176272"/>
            <a:ext cx="91440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0">
                <a:solidFill>
                  <a:srgbClr val="E8ECF4"/>
                </a:solidFill>
                <a:latin typeface="Arial"/>
              </a:defRPr>
            </a:pPr>
            <a:r>
              <a:t>schedule-optimizer subagent detects real conflicts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880360"/>
            <a:ext cx="10515600" cy="73152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3063240"/>
            <a:ext cx="365760" cy="365760"/>
          </a:xfrm>
          <a:prstGeom prst="roundRect">
            <a:avLst/>
          </a:prstGeom>
          <a:solidFill>
            <a:srgbClr val="0A0D12"/>
          </a:solidFill>
          <a:ln w="25400">
            <a:solidFill>
              <a:srgbClr val="56C4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3044952"/>
            <a:ext cx="91440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0">
                <a:solidFill>
                  <a:srgbClr val="E8ECF4"/>
                </a:solidFill>
                <a:latin typeface="Arial"/>
              </a:defRPr>
            </a:pPr>
            <a:r>
              <a:t>comms-reviewer subagent scores and verdicts communications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49040"/>
            <a:ext cx="10515600" cy="73152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3931920"/>
            <a:ext cx="365760" cy="365760"/>
          </a:xfrm>
          <a:prstGeom prst="roundRect">
            <a:avLst/>
          </a:prstGeom>
          <a:solidFill>
            <a:srgbClr val="0A0D12"/>
          </a:solidFill>
          <a:ln w="25400">
            <a:solidFill>
              <a:srgbClr val="56C4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3913632"/>
            <a:ext cx="91440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0">
                <a:solidFill>
                  <a:srgbClr val="E8ECF4"/>
                </a:solidFill>
                <a:latin typeface="Arial"/>
              </a:defRPr>
            </a:pPr>
            <a:r>
              <a:t>Hook fires automatically on comms/ writes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617720"/>
            <a:ext cx="10515600" cy="73152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" y="4800600"/>
            <a:ext cx="365760" cy="365760"/>
          </a:xfrm>
          <a:prstGeom prst="roundRect">
            <a:avLst/>
          </a:prstGeom>
          <a:solidFill>
            <a:srgbClr val="0A0D12"/>
          </a:solidFill>
          <a:ln w="25400">
            <a:solidFill>
              <a:srgbClr val="56C4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4782312"/>
            <a:ext cx="91440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0">
                <a:solidFill>
                  <a:srgbClr val="E8ECF4"/>
                </a:solidFill>
                <a:latin typeface="Arial"/>
              </a:defRPr>
            </a:pPr>
            <a:r>
              <a:t>Visible quality improvement over monolith approach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28800" y="5760720"/>
            <a:ext cx="8503920" cy="640080"/>
          </a:xfrm>
          <a:prstGeom prst="round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28800" y="5806440"/>
            <a:ext cx="85039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E8853D"/>
                </a:solidFill>
                <a:latin typeface="Arial"/>
              </a:defRPr>
            </a:pPr>
            <a:r>
              <a:t>Raise your hand if you're stuck -- we'll do a group debug.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E8ECF4"/>
                </a:solidFill>
                <a:latin typeface="Arial"/>
              </a:defRPr>
            </a:pPr>
            <a:r>
              <a:t>What's Next -- Session 4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3657600" cy="36576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5B9CF5"/>
                </a:solidFill>
                <a:latin typeface="Arial"/>
              </a:defRPr>
            </a:pPr>
            <a:r>
              <a:t>Parallel Agents &amp; Feedback Loops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10515600" cy="91440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54864" cy="9144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1">
                <a:solidFill>
                  <a:srgbClr val="E8853D"/>
                </a:solidFill>
                <a:latin typeface="Arial"/>
              </a:defRPr>
            </a:pPr>
            <a:r>
              <a:t>3 competing agents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61488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0">
                <a:solidFill>
                  <a:srgbClr val="9CA3B4"/>
                </a:solidFill>
                <a:latin typeface="Arial"/>
              </a:defRPr>
            </a:pPr>
            <a:r>
              <a:t>generate different approaches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83280"/>
            <a:ext cx="10515600" cy="91440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383280"/>
            <a:ext cx="54864" cy="91440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47472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1">
                <a:solidFill>
                  <a:srgbClr val="5B9CF5"/>
                </a:solidFill>
                <a:latin typeface="Arial"/>
              </a:defRPr>
            </a:pPr>
            <a:r>
              <a:t>Specialist evaluators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58768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0">
                <a:solidFill>
                  <a:srgbClr val="9CA3B4"/>
                </a:solidFill>
                <a:latin typeface="Arial"/>
              </a:defRPr>
            </a:pPr>
            <a:r>
              <a:t>score each approach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10515600" cy="91440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480560"/>
            <a:ext cx="54864" cy="914400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572000"/>
            <a:ext cx="4572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1">
                <a:solidFill>
                  <a:srgbClr val="56C495"/>
                </a:solidFill>
                <a:latin typeface="Arial"/>
              </a:defRPr>
            </a:pPr>
            <a:r>
              <a:t>Feedback system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956048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0">
                <a:solidFill>
                  <a:srgbClr val="9CA3B4"/>
                </a:solidFill>
                <a:latin typeface="Arial"/>
              </a:defRPr>
            </a:pPr>
            <a:r>
              <a:t>picks the best, iterates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28800" y="5852160"/>
            <a:ext cx="8503920" cy="640080"/>
          </a:xfrm>
          <a:prstGeom prst="round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28800" y="5897880"/>
            <a:ext cx="85039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200" b="1">
                <a:solidFill>
                  <a:srgbClr val="E8853D"/>
                </a:solidFill>
                <a:latin typeface="Arial"/>
              </a:defRPr>
            </a:pPr>
            <a:r>
              <a:t>The architecture scales: more agents, better results.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57200"/>
            <a:ext cx="12191695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4000" b="1">
                <a:solidFill>
                  <a:srgbClr val="E8ECF4"/>
                </a:solidFill>
                <a:latin typeface="Arial"/>
              </a:defRPr>
            </a:pPr>
            <a:r>
              <a:t>Session 3 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97280"/>
            <a:ext cx="1219169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0">
                <a:solidFill>
                  <a:srgbClr val="9CA3B4"/>
                </a:solidFill>
                <a:latin typeface="Arial"/>
              </a:defRPr>
            </a:pPr>
            <a:r>
              <a:t>Three things to remember: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4944" y="1883664"/>
            <a:ext cx="3474720" cy="3200400"/>
          </a:xfrm>
          <a:prstGeom prst="roundRect">
            <a:avLst/>
          </a:prstGeom>
          <a:solidFill>
            <a:srgbClr val="111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474720" cy="320040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3474720" cy="54864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59" y="2103120"/>
            <a:ext cx="640080" cy="457200"/>
          </a:xfrm>
          <a:prstGeom prst="round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121408"/>
            <a:ext cx="6400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0F1219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743200"/>
            <a:ext cx="31089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E8ECF4"/>
                </a:solidFill>
                <a:latin typeface="Arial"/>
              </a:defRPr>
            </a:pPr>
            <a:r>
              <a:t>Specialists Beat Generalists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83280"/>
            <a:ext cx="31089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9CA3B4"/>
                </a:solidFill>
                <a:latin typeface="Arial"/>
              </a:defRPr>
            </a:pPr>
            <a:r>
              <a:t>Same model, focused context =</a:t>
            </a:r>
            <a:br/>
            <a:r>
              <a:t>dramatically better output.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2157984"/>
            <a:ext cx="3474720" cy="3200400"/>
          </a:xfrm>
          <a:prstGeom prst="roundRect">
            <a:avLst/>
          </a:prstGeom>
          <a:solidFill>
            <a:srgbClr val="111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34840" y="2103120"/>
            <a:ext cx="3474720" cy="320040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2103120"/>
            <a:ext cx="347472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17720" y="2377439"/>
            <a:ext cx="640080" cy="457200"/>
          </a:xfrm>
          <a:prstGeom prst="round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2395727"/>
            <a:ext cx="6400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0F1219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17520"/>
            <a:ext cx="31089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E8ECF4"/>
                </a:solidFill>
                <a:latin typeface="Arial"/>
              </a:defRPr>
            </a:pPr>
            <a:r>
              <a:t>Hooks Automate Quality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657600"/>
            <a:ext cx="31089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9CA3B4"/>
                </a:solidFill>
                <a:latin typeface="Arial"/>
              </a:defRPr>
            </a:pPr>
            <a:r>
              <a:t>No manual review steps.</a:t>
            </a:r>
            <a:br/>
            <a:r>
              <a:t>Code runs when things happen.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84464" y="1883664"/>
            <a:ext cx="3474720" cy="3200400"/>
          </a:xfrm>
          <a:prstGeom prst="roundRect">
            <a:avLst/>
          </a:prstGeom>
          <a:solidFill>
            <a:srgbClr val="111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0" y="1828800"/>
            <a:ext cx="3474720" cy="3200400"/>
          </a:xfrm>
          <a:prstGeom prst="round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1828800"/>
            <a:ext cx="3474720" cy="54864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80" y="2103120"/>
            <a:ext cx="640080" cy="457200"/>
          </a:xfrm>
          <a:prstGeom prst="round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2121408"/>
            <a:ext cx="6400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0F1219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743200"/>
            <a:ext cx="31089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E8ECF4"/>
                </a:solidFill>
                <a:latin typeface="Arial"/>
              </a:defRPr>
            </a:pPr>
            <a:r>
              <a:t>Route Models to Tasks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3383280"/>
            <a:ext cx="310896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9CA3B4"/>
                </a:solidFill>
                <a:latin typeface="Arial"/>
              </a:defRPr>
            </a:pPr>
            <a:r>
              <a:t>Right model for the right job.</a:t>
            </a:r>
            <a:br/>
            <a:r>
              <a:t>Don't overspend, don't undershoot.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000" b="1">
                <a:solidFill>
                  <a:srgbClr val="E8853D"/>
                </a:solidFill>
                <a:latin typeface="Arial"/>
              </a:defRPr>
            </a:pPr>
            <a:r>
              <a:t>Next session: we make the agents compete.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