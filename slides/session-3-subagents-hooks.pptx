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E8ECF4"/>
                </a:solidFill>
                <a:latin typeface="Arial"/>
              </a:defRPr>
            </a:pPr>
            <a:r>
              <a:t>Subagents &amp; 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9CA3B4"/>
                </a:solidFill>
                <a:latin typeface="Arial"/>
              </a:defRPr>
            </a:pPr>
            <a:r>
              <a:t>Specialists Beat Generalists  ·  Tucson Claude Code Meetup, Session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Recap — Where We 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562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/plan-event — structured event planning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7432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/build-schedule — time-slot optimization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630168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65576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/draft-announcement — community comms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517136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52544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/draft-speaker-outreach — personalized emails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40410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39512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All composable via JSON contracts. Today: break the monolith.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Today's Goal — Specialists &amp; Quality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Monoliths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Why one-agent-does-everything fails.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5103" y="1554480"/>
            <a:ext cx="2613583" cy="914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3703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703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Subagents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3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Isolated specialists, one job 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554480"/>
            <a:ext cx="2613583" cy="9144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Hooks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Lifecycle automation, quality gates.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0911" y="155448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9511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853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511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Routing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9511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Right model for the right task.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The Monolith Problem  ·  Live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Optimize the schedule for conflicts, rewrite the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announcement for better engagement, review the speaker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outreach emails for tone, and suggest a better venue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layout — all at once.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Watch what happens to quality when one agent does four jobs.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Why the Monolith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Agent juggles too many concerns and drops details.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5103" y="1554480"/>
            <a:ext cx="2613583" cy="914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3703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703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No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3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Generic output for every task — expert at none.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554480"/>
            <a:ext cx="2613583" cy="9144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No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No review step, errors pass through unchecked.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0911" y="155448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9511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853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511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Sequential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9511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One massive prompt — can't parallelize work.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Subagents — The Fix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          +---------------------+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          |     Main Agent  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          |   (orchestrator)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          +----------+----------+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                 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+--------------------+--------------------+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|                    |                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+-------v--------+   +-------v-------+   +--------v-------+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|   schedule-    |   |    comms-     |   |    speaker-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|   optimizer    |   |   reviewer    |   |    matcher 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+----------------+   +---------------+   +----------------+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Own context          Own context        Own context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Limited tools        Limited tools      Limited 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Each subagent: isolated context, focused job, auto-invocable.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Anatomy of a Subagent  ·  .claude/agents/schedule-optimizer.md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Markdown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---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name: schedule-optimizer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description: Schedule optimization specialist. Use proactively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to optimize any meetup schedule for speaker conflicts,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break intervals, and audience energy.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tools: Read, Grep, Glob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model: sonnet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---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You are a meetup schedule optimization specialist.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When given an event plan, optimize the schedule by...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tools allowlist + model: field = least-privilege, right-sized cost.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Key Subagent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562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Own context window — fresh, no bleed from parent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9537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3078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Limited tools — Read/Grep/Glob, not Write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33451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6992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'use proactively' phrasing nudges auto-invocation (not magic)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7365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0906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One-shot design — does its job, returns, exits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81279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4820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Structured output — pick a parseable format (table or JSON)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519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8734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Trigger is the description match — write descriptions that earn invocation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Live Demo  ·  Build the Schedule Optimizer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Bash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# Option A: guided UI (recommended)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/agents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# -&gt; Library -&gt; Create new agent -&gt; Project scope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# Option B: write the file by hand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mkdir -p .claude/agents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$EDITOR .claude/agents/schedule-optimizer.md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# Then test: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Use the schedule-optimizer agent to optimize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the Python meetup schedule for next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Hand-edited files load at session start — restart to apply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Comms Reviewer  ·  Score on 4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286000" cy="54864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Date, time, venue, RSVP link present?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5103" y="1554480"/>
            <a:ext cx="2613583" cy="9144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3703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3703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3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Engaging for devs, not corporate or cringey?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554480"/>
            <a:ext cx="2613583" cy="9144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Clarity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Skimmable in 30s — what, when, where?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554480"/>
            <a:ext cx="2613583" cy="475488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20911" y="1554480"/>
            <a:ext cx="2613583" cy="9144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9511" y="1828800"/>
            <a:ext cx="822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853D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511" y="2560320"/>
            <a:ext cx="215638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8ECF4"/>
                </a:solidFill>
                <a:latin typeface="Arial"/>
              </a:defRPr>
            </a:pPr>
            <a:r>
              <a:t>CTA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9511" y="3749039"/>
            <a:ext cx="2156383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CA3B4"/>
                </a:solidFill>
                <a:latin typeface="Arial"/>
              </a:defRPr>
            </a:pPr>
            <a:r>
              <a:t>Strong call-to-action, easy to act on?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8ECF4"/>
                </a:solidFill>
                <a:latin typeface="Arial"/>
              </a:defRPr>
            </a:pPr>
            <a:r>
              <a:t>The Quality Jump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9CA3B4"/>
                </a:solidFill>
                <a:latin typeface="Arial"/>
              </a:defRPr>
            </a:pPr>
            <a:r>
              <a:t>Before — Monolith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'Schedule looks fine, maybe move Talk B'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'Announcement is good, add more detail'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07408"/>
            <a:ext cx="91440" cy="91440"/>
          </a:xfrm>
          <a:prstGeom prst="ellipse">
            <a:avLst/>
          </a:prstGeom>
          <a:solidFill>
            <a:srgbClr val="9CA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Generic, surface-level, no specifics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6C495"/>
                </a:solidFill>
                <a:latin typeface="Arial"/>
              </a:defRPr>
            </a:pPr>
            <a:r>
              <a:t>After — Specialists</a:t>
            </a:r>
          </a:p>
        </p:txBody>
      </p:sp>
      <p:sp>
        <p:nvSpPr>
          <p:cNvPr id="16" name="Oval 15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3 conflicts detected — specific resolutions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340156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Email scored 6/10 — missing RSVP link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440740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Focused, thorough, actionable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Model Routing  ·  The model: Field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YAML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---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name: schedule-optimizer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tools: Read, Grep, Glob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model: sonnet     # nuanced reasoning over structured data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---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---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name: comms-reviewer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tools: Read, Grep, Glob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model: haiku      # fast, cheap evaluation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haiku for triage  ·  sonnet for reasoning  ·  inherit (default)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Hooks  ·  30+ Events (the 6 you'll actually use)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562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PreToolUse — block dangerous ops, validate inputs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59537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3078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PostToolUse — trigger reviews, log 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33451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6992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UserPromptSubmit — validate or transform user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07365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0906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Stop / SubagentStop — cleanup, summary, 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81279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4820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SessionStart / SessionEnd — bootstrap env, archive transcripts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519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87340"/>
            <a:ext cx="10698480" cy="7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PreCompact — persist state before context compaction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Auto-Review Hook  ·  .claude/hooks/auto-review.sh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Bash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#!/bin/bash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INPUT=$(cat)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TOOL_NAME=$(echo "$INPUT" | jq -r '.tool_name // empty')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FILE_PATH=$(echo "$INPUT" | jq -r '.tool_input.file_path // empty')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if [[ "$TOOL_NAME" == "Write" ]] &amp;&amp; [[ "$FILE_PATH" == *"comms/"* ]]; then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mkdir -p .claude/logs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echo "$(date): Auto-review for $FILE_PATH" &gt;&gt; .claude/logs/reviews.log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echo "New comm drafted: $FILE_PATH — comms-reviewer will evaluate."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fi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Any write to comms/ = automatic quality review.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Registering the Hook  ·  .claude/settings.local.json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JSON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{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"hooks": {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"PostToolUse": [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{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"matcher": "Write",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"hooks": [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{ "type": "command",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    "command": ".claude/hooks/auto-review.sh" }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  ]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  }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]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}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matcher narrows the trigger.  'if' field adds permission-rule conditions on tool events.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E8ECF4"/>
                </a:solidFill>
                <a:latin typeface="Arial"/>
              </a:defRPr>
            </a:pPr>
            <a:r>
              <a:t>Live Demo  ·  The Full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332720" y="502920"/>
            <a:ext cx="1417320" cy="411480"/>
          </a:xfrm>
          <a:prstGeom prst="round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548640"/>
            <a:ext cx="1417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A0D12"/>
                </a:solidFill>
                <a:latin typeface="Courier New"/>
              </a:defRPr>
            </a:pPr>
            <a:r>
              <a:t>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4552" cy="4617720"/>
          </a:xfrm>
          <a:prstGeom prst="roundRect">
            <a:avLst/>
          </a:prstGeom>
          <a:solidFill>
            <a:srgbClr val="0A0D12"/>
          </a:solidFill>
          <a:ln>
            <a:solidFill>
              <a:srgbClr val="3132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146304" cy="146304"/>
          </a:xfrm>
          <a:prstGeom prst="ellipse">
            <a:avLst/>
          </a:prstGeom>
          <a:solidFill>
            <a:srgbClr val="F38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" y="1463040"/>
            <a:ext cx="146304" cy="146304"/>
          </a:xfrm>
          <a:prstGeom prst="ellipse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16736" y="1463040"/>
            <a:ext cx="146304" cy="146304"/>
          </a:xfrm>
          <a:prstGeom prst="ellipse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/plan-event "Python meetup April 2026"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v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/build-schedule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v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schedule-optimizer  (subagent auto-invoked)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v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/draft-announcement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v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Write to comms/  --&gt;  hook fires  --&gt;  comms-reviewer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|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    v</a:t>
            </a:r>
          </a:p>
          <a:p>
            <a:pPr algn="l">
              <a:defRPr sz="1300">
                <a:solidFill>
                  <a:srgbClr val="E8ECF4"/>
                </a:solidFill>
                <a:latin typeface="Courier New"/>
              </a:defRPr>
            </a:pPr>
            <a:r>
              <a:t>Scored output: SEND / REVISE / REWRITE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i="1">
                <a:solidFill>
                  <a:srgbClr val="9CA3B4"/>
                </a:solidFill>
                <a:latin typeface="Arial"/>
              </a:defRPr>
            </a:pPr>
            <a:r>
              <a:t>Zero manual review steps.  Architecture handles 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MCP — Connecting External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562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Standard interface to Eventbrite, Google Calendar, Slack, Notion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7706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Tool Search defers tool definitions, keeping MCP context 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6850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Channels (research preview) — push messages from Telegram, Discord into your session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599431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Architecture supports it — aside for today, but it's here when you need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8ECF4"/>
                </a:solidFill>
                <a:latin typeface="Arial"/>
              </a:defRPr>
            </a:pPr>
            <a:r>
              <a:t>Tips &amp;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89320" y="1371600"/>
            <a:ext cx="210312" cy="5029200"/>
          </a:xfrm>
          <a:prstGeom prst="rect">
            <a:avLst/>
          </a:prstGeom>
          <a:solidFill>
            <a:srgbClr val="313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62472" y="1371600"/>
            <a:ext cx="64008" cy="50292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3716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F4444"/>
                </a:solidFill>
                <a:latin typeface="Arial"/>
              </a:defRPr>
            </a:pPr>
            <a:r>
              <a:t>Don't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39572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Give subagents tools they don't need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40156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Assume they share context with parent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0740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Hook every tool event (perf hit)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5413248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Skip the one-shot pattern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36792" y="1554480"/>
            <a:ext cx="137160" cy="457200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087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56C495"/>
                </a:solidFill>
                <a:latin typeface="Arial"/>
              </a:defRPr>
            </a:pPr>
            <a:r>
              <a:t>Do</a:t>
            </a:r>
          </a:p>
        </p:txBody>
      </p:sp>
      <p:sp>
        <p:nvSpPr>
          <p:cNvPr id="18" name="Oval 17"/>
          <p:cNvSpPr/>
          <p:nvPr/>
        </p:nvSpPr>
        <p:spPr>
          <a:xfrm>
            <a:off x="6336792" y="239572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2860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Include 'use proactively' in descriptions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336792" y="340156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2" y="32918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Set model: per task (haiku / sonnet)</a:t>
            </a:r>
          </a:p>
        </p:txBody>
      </p:sp>
      <p:sp>
        <p:nvSpPr>
          <p:cNvPr id="22" name="Oval 21"/>
          <p:cNvSpPr/>
          <p:nvPr/>
        </p:nvSpPr>
        <p:spPr>
          <a:xfrm>
            <a:off x="6336792" y="440740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42976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Return parseable output (table or JSON)</a:t>
            </a:r>
          </a:p>
        </p:txBody>
      </p:sp>
      <p:sp>
        <p:nvSpPr>
          <p:cNvPr id="24" name="Oval 23"/>
          <p:cNvSpPr/>
          <p:nvPr/>
        </p:nvSpPr>
        <p:spPr>
          <a:xfrm>
            <a:off x="6336792" y="5413248"/>
            <a:ext cx="91440" cy="91440"/>
          </a:xfrm>
          <a:prstGeom prst="ellipse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53035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E8ECF4"/>
                </a:solidFill>
                <a:latin typeface="Arial"/>
              </a:defRPr>
            </a:pPr>
            <a:r>
              <a:t>Restart session after editing files by hand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377440"/>
            <a:ext cx="3566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E8853D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371600"/>
            <a:ext cx="73152" cy="41148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0" y="237744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CF4"/>
                </a:solidFill>
                <a:latin typeface="Arial"/>
              </a:defRPr>
            </a:pPr>
            <a:r>
              <a:t>Specialist Subagents + Auto-Review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42062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9CA3B4"/>
                </a:solidFill>
                <a:latin typeface="Arial"/>
              </a:defRPr>
            </a:pPr>
            <a:r>
              <a:t>35 minutes  ·  details in sessions/session-3/EXERCISE.md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8ECF4"/>
                </a:solidFill>
                <a:latin typeface="Arial"/>
              </a:defRPr>
            </a:pPr>
            <a:r>
              <a:t>Checkpoint  ·  Did You Get There?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2286000" cy="54864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56232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schedule-optimizer detects real conflicts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743200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comms-reviewer scores and verdicts communications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630168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65576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Hook fires automatically on comms/ writes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517136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52544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Visible quality jump over the monolith approach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404104"/>
            <a:ext cx="109728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39512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E8ECF4"/>
                </a:solidFill>
                <a:latin typeface="Arial"/>
              </a:defRPr>
            </a:pPr>
            <a:r>
              <a:t>Hand up if stuck — group debug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8ECF4"/>
                </a:solidFill>
                <a:latin typeface="Arial"/>
              </a:defRPr>
            </a:pPr>
            <a:r>
              <a:t>Next Session  ·  Parallel Agents &amp; Feedback Loops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96596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36576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2103120"/>
            <a:ext cx="731520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8853D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ECF4"/>
                </a:solidFill>
                <a:latin typeface="Arial"/>
              </a:defRPr>
            </a:pPr>
            <a:r>
              <a:t>Compete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B4"/>
                </a:solidFill>
                <a:latin typeface="Arial"/>
              </a:defRPr>
            </a:pPr>
            <a:r>
              <a:t>3 agents generate different approaches to the same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233172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2194560"/>
            <a:ext cx="3840480" cy="3657600"/>
          </a:xfrm>
          <a:prstGeom prst="roundRect">
            <a:avLst/>
          </a:prstGeom>
          <a:solidFill>
            <a:srgbClr val="22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468879"/>
            <a:ext cx="731520" cy="109728"/>
          </a:xfrm>
          <a:prstGeom prst="rect">
            <a:avLst/>
          </a:prstGeom>
          <a:solidFill>
            <a:srgbClr val="5B9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74320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B9CF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56616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ECF4"/>
                </a:solidFill>
                <a:latin typeface="Arial"/>
              </a:defRPr>
            </a:pPr>
            <a:r>
              <a:t>Evaluate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5720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B4"/>
                </a:solidFill>
                <a:latin typeface="Arial"/>
              </a:defRPr>
            </a:pPr>
            <a:r>
              <a:t>Specialist evaluators score each approach against criteria.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783080"/>
            <a:ext cx="3840480" cy="3657600"/>
          </a:xfrm>
          <a:prstGeom prst="roundRect">
            <a:avLst/>
          </a:prstGeom>
          <a:solidFill>
            <a:srgbClr val="1111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79" y="1645920"/>
            <a:ext cx="3840480" cy="3657600"/>
          </a:xfrm>
          <a:prstGeom prst="roundRect">
            <a:avLst/>
          </a:prstGeom>
          <a:solidFill>
            <a:srgbClr val="1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920240"/>
            <a:ext cx="731520" cy="109728"/>
          </a:xfrm>
          <a:prstGeom prst="rect">
            <a:avLst/>
          </a:prstGeom>
          <a:solidFill>
            <a:srgbClr val="56C4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219456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6C49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8ECF4"/>
                </a:solidFill>
                <a:latin typeface="Arial"/>
              </a:defRPr>
            </a:pPr>
            <a:r>
              <a:t>Iterate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023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CA3B4"/>
                </a:solidFill>
                <a:latin typeface="Arial"/>
              </a:defRPr>
            </a:pPr>
            <a:r>
              <a:t>Feedback system picks the best, learns, repeats.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CA3B4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2286000"/>
          </a:xfrm>
          <a:prstGeom prst="rect">
            <a:avLst/>
          </a:prstGeom>
          <a:solidFill>
            <a:srgbClr val="18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E8ECF4"/>
                </a:solidFill>
                <a:latin typeface="Arial"/>
              </a:defRPr>
            </a:pPr>
            <a:r>
              <a:t>Specialists.  Hooks.  Routing.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30552" cy="73152"/>
          </a:xfrm>
          <a:prstGeom prst="rect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03704" y="4846320"/>
            <a:ext cx="457200" cy="45720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037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219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8ECF4"/>
                </a:solidFill>
                <a:latin typeface="Arial"/>
              </a:defRPr>
            </a:pPr>
            <a:r>
              <a:t>Specialists beat generalists</a:t>
            </a:r>
          </a:p>
        </p:txBody>
      </p:sp>
      <p:sp>
        <p:nvSpPr>
          <p:cNvPr id="9" name="Oval 8"/>
          <p:cNvSpPr/>
          <p:nvPr/>
        </p:nvSpPr>
        <p:spPr>
          <a:xfrm>
            <a:off x="5861304" y="4846320"/>
            <a:ext cx="457200" cy="45720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613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219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8ECF4"/>
                </a:solidFill>
                <a:latin typeface="Arial"/>
              </a:defRPr>
            </a:pPr>
            <a:r>
              <a:t>Hooks automate quality</a:t>
            </a:r>
          </a:p>
        </p:txBody>
      </p:sp>
      <p:sp>
        <p:nvSpPr>
          <p:cNvPr id="12" name="Oval 11"/>
          <p:cNvSpPr/>
          <p:nvPr/>
        </p:nvSpPr>
        <p:spPr>
          <a:xfrm>
            <a:off x="9518904" y="4846320"/>
            <a:ext cx="457200" cy="457200"/>
          </a:xfrm>
          <a:prstGeom prst="ellipse">
            <a:avLst/>
          </a:prstGeom>
          <a:solidFill>
            <a:srgbClr val="E88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18904" y="48920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F1219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704" y="5440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E8ECF4"/>
                </a:solidFill>
                <a:latin typeface="Arial"/>
              </a:defRPr>
            </a:pPr>
            <a:r>
              <a:t>Route models to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E8853D"/>
                </a:solidFill>
                <a:latin typeface="Arial"/>
              </a:defRPr>
            </a:pPr>
            <a:r>
              <a:t>github.com/ai-trailblazers/tucson-claude-code-meetup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